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framing: Introduce Kari as a strategic intermediary, not a broker or lobbyist. The board question is whether her credibility and network can be converted into disciplined opportunity qualification for Dunlevy Aerospace.
Power sentence: Kari gives Dunlevy Aerospace a credible front door into European security, policy, and investor conversations that would otherwise take years to build.
Sources: CEPA author profile confirms Kari Odermann is a CEPA Fellow and describes her as a political analyst and communication specialist with over 20 years of experience in security, development, and technical assistance across Africa, Asia, Europe, and North America. It also cites work with the German Parliament, German Council on Foreign Relations, UNDP, German Aid Agency, and public/private/nonprofit organizations, plus democratic resilience and counter-disinformation work: https://cepa.org/author/dr-kari-hiepko-odermann/
K2 Communication about page describes Dr. Kari Odermann creating communication solutions in sensitive political contexts and translating complex information into accessible narratives; it also references Asia-Pacific, Eastern Europe, India, Ukraine, CEPA fellowship, media and teaching experience: https://k2.news/about
Spelling note: use Kari Odermann and Dunlevy. CEPA page currently says founder of KII Communication, while K2's own site identifies K2 Communication. The slide uses K2 because the user provided K2 and the K2 site itself supports that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framing: Security conferences are not treated here as generic networking. They are listening posts where policy priorities, investor appetite, defence industrial capacity, Ukraine-related urgency, and dual-use technology concerns converge.
Use careful language: Kari can help Dunlevy identify serious conversations and market signals; she cannot guarantee NATO, EU, or member-state procurement.
Power sentence: Kari's network is valuable because Europe's security conversation is now becoming a procurement and investment conversation.
Sources: Council of the EU defence numbers page states that EU member states' defence expenditure reached EUR 343 billion in 2024 and is expected to reach an estimated EUR 381 billion in 2025: https://www.consilium.europa.eu/en/policies/defence-numbers/
European Commission Readiness 2030 page describes SAFE as a new financial instrument for key defence areas including missile defence, drones, and cyber security; the page also states SAFE will raise funds up to EUR 150 billion and provide loans to Member States: https://defence-industry-space.ec.europa.eu/eu-defence-industry/white-paper-european-defence-readiness-2030_en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framing: Dunlevy already has technical and operational credibility. The question is how to qualify international opportunity without pulling Matt and the operating team into unstructured conversations.
Power sentence: Kari can help Dunlevy Aerospace find the right international doors before the company commits serious time, capital, or operational bandwidth.
Risk language to preserve: Subject to export-control and compliance review. No technical transfer or binding commitment without legal and board approval. International opportunity qualification, not guaranteed capital.
Sources: Dunlevy Aerospace website states the company is based in North Dakota, has over a decade of national and international UAS industry experience, develops UAS airframes, designs UAS curricula, provides consulting, and has overseen more than 250,000 UAS missions: https://www.dunlevyaerospace.com/
Northland Community &amp; Technical College directory states Matt Dunlevy is owner of Dunlevy Consulting and a well-known UAS entrepreneur in North Dakota, Minnesota, and internationally: https://www.northlandcollege.edu/directory/dunlevy-matt/
Market timing sources: Council of the EU defence numbers and European Commission Readiness 2030 / SAFE pages cited in Slide 2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framing: The relationship matters because it lowers trust friction, but the board should not approve an open-ended relationship-based effort. The recommendation is a limited, governed pilot with board gates and specific outputs.
Power sentence: This is not a bet on a relationship; it is a controlled test of whether that relationship can produce strategic international opportunity.
Pilot scope: 60-90 days. Kari filters opportunities before Matt enters conversations. No exclusivity. No authority to bind Dunlevy Aerospace or Dunlevy Consulting. No export-controlled or technical-transfer discussions without counsel.
Deliverables: map 10-15 qualified international investor / strategic partner targets; identify 3-5 relevant European security conference or network opportunities; produce preliminary compliance / risk checklist; recommend priority markets and partnership structure; provide board update with go / no-go recommendation.
Pushback to pre-empt: conflict of interest handled through written scope, disclosure, and board approval gates; export-control and dual-use risk handled through early legal/compliance review; Matt's time protected by Kari filtering first; Europe-first supplier bias addressed through broader models such as joint ventures, training, licensing, components, consulting, and strategic investors; avoid overpromising access by positioning the pilot as opportunity qualification only.
Sources referenced from prior slides: CEPA, K2 Communication, Dunlevy Aerospace, Northland Community &amp; Technical College, Council of the EU, European Commission Readiness 2030 /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42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421"/>
          </a:solidFill>
          <a:ln w="12700">
            <a:solidFill>
              <a:srgbClr val="081421"/>
            </a:solidFill>
            <a:prstDash val="solid"/>
          </a:ln>
        </p:spPr>
      </p:sp>
      <p:sp>
        <p:nvSpPr>
          <p:cNvPr id="3" name="Shape 1"/>
          <p:cNvSpPr/>
          <p:nvPr/>
        </p:nvSpPr>
        <p:spPr>
          <a:xfrm>
            <a:off x="0" y="0"/>
            <a:ext cx="146304" cy="6858000"/>
          </a:xfrm>
          <a:prstGeom prst="rect">
            <a:avLst/>
          </a:prstGeom>
          <a:solidFill>
            <a:srgbClr val="C6A15B"/>
          </a:solidFill>
          <a:ln w="12700">
            <a:solidFill>
              <a:srgbClr val="C6A15B"/>
            </a:solidFill>
            <a:prstDash val="solid"/>
          </a:ln>
        </p:spPr>
      </p:sp>
      <p:sp>
        <p:nvSpPr>
          <p:cNvPr id="4" name="Text 2"/>
          <p:cNvSpPr/>
          <p:nvPr/>
        </p:nvSpPr>
        <p:spPr>
          <a:xfrm>
            <a:off x="411480" y="246888"/>
            <a:ext cx="2926080" cy="201168"/>
          </a:xfrm>
          <a:prstGeom prst="rect">
            <a:avLst/>
          </a:prstGeom>
          <a:noFill/>
          <a:ln/>
        </p:spPr>
        <p:txBody>
          <a:bodyPr wrap="square" lIns="0" tIns="0" rIns="0" bIns="0" rtlCol="0" anchor="ctr"/>
          <a:lstStyle/>
          <a:p>
            <a:pPr indent="0" marL="0">
              <a:buNone/>
            </a:pPr>
            <a:r>
              <a:rPr lang="en-US" sz="750" b="1" dirty="0">
                <a:solidFill>
                  <a:srgbClr val="7EA6C7"/>
                </a:solidFill>
                <a:latin typeface="Aptos" pitchFamily="34" charset="0"/>
                <a:ea typeface="Aptos" pitchFamily="34" charset="-122"/>
                <a:cs typeface="Aptos" pitchFamily="34" charset="-120"/>
              </a:rPr>
              <a:t>STRATEGIC CREDIBILITY</a:t>
            </a:r>
            <a:endParaRPr lang="en-US" sz="750" dirty="0"/>
          </a:p>
        </p:txBody>
      </p:sp>
      <p:sp>
        <p:nvSpPr>
          <p:cNvPr id="5" name="Text 3"/>
          <p:cNvSpPr/>
          <p:nvPr/>
        </p:nvSpPr>
        <p:spPr>
          <a:xfrm>
            <a:off x="11201400" y="228600"/>
            <a:ext cx="502920" cy="164592"/>
          </a:xfrm>
          <a:prstGeom prst="rect">
            <a:avLst/>
          </a:prstGeom>
          <a:noFill/>
          <a:ln/>
        </p:spPr>
        <p:txBody>
          <a:bodyPr wrap="square" lIns="0" tIns="0" rIns="0" bIns="0" rtlCol="0" anchor="ctr"/>
          <a:lstStyle/>
          <a:p>
            <a:pPr algn="r" indent="0" marL="0">
              <a:buNone/>
            </a:pPr>
            <a:r>
              <a:rPr lang="en-US" sz="750" b="1" dirty="0">
                <a:solidFill>
                  <a:srgbClr val="C6A15B"/>
                </a:solidFill>
              </a:rPr>
              <a:t>01</a:t>
            </a:r>
            <a:endParaRPr lang="en-US" sz="750" dirty="0"/>
          </a:p>
        </p:txBody>
      </p:sp>
      <p:sp>
        <p:nvSpPr>
          <p:cNvPr id="6" name="Shape 4"/>
          <p:cNvSpPr/>
          <p:nvPr/>
        </p:nvSpPr>
        <p:spPr>
          <a:xfrm>
            <a:off x="411480" y="6327648"/>
            <a:ext cx="11201400" cy="0"/>
          </a:xfrm>
          <a:prstGeom prst="line">
            <a:avLst/>
          </a:prstGeom>
          <a:noFill/>
          <a:ln w="8890">
            <a:solidFill>
              <a:srgbClr val="3A4656">
                <a:alpha val="80000"/>
              </a:srgbClr>
            </a:solidFill>
            <a:prstDash val="solid"/>
          </a:ln>
        </p:spPr>
      </p:sp>
      <p:sp>
        <p:nvSpPr>
          <p:cNvPr id="7" name="Text 5"/>
          <p:cNvSpPr/>
          <p:nvPr/>
        </p:nvSpPr>
        <p:spPr>
          <a:xfrm>
            <a:off x="411480" y="6446520"/>
            <a:ext cx="6583680" cy="146304"/>
          </a:xfrm>
          <a:prstGeom prst="rect">
            <a:avLst/>
          </a:prstGeom>
          <a:noFill/>
          <a:ln/>
        </p:spPr>
        <p:txBody>
          <a:bodyPr wrap="square" lIns="0" tIns="0" rIns="0" bIns="0" rtlCol="0" anchor="ctr"/>
          <a:lstStyle/>
          <a:p>
            <a:pPr indent="0" marL="0">
              <a:buNone/>
            </a:pPr>
            <a:r>
              <a:rPr lang="en-US" sz="650" dirty="0">
                <a:solidFill>
                  <a:srgbClr val="A9B6C7"/>
                </a:solidFill>
              </a:rPr>
              <a:t>Sources in speaker notes | Draft for board discussion</a:t>
            </a:r>
            <a:endParaRPr lang="en-US" sz="650" dirty="0"/>
          </a:p>
        </p:txBody>
      </p:sp>
      <p:sp>
        <p:nvSpPr>
          <p:cNvPr id="8" name="Text 6"/>
          <p:cNvSpPr/>
          <p:nvPr/>
        </p:nvSpPr>
        <p:spPr>
          <a:xfrm>
            <a:off x="7452360" y="6446520"/>
            <a:ext cx="4160520" cy="146304"/>
          </a:xfrm>
          <a:prstGeom prst="rect">
            <a:avLst/>
          </a:prstGeom>
          <a:noFill/>
          <a:ln/>
        </p:spPr>
        <p:txBody>
          <a:bodyPr wrap="square" lIns="0" tIns="0" rIns="0" bIns="0" rtlCol="0" anchor="ctr"/>
          <a:lstStyle/>
          <a:p>
            <a:pPr algn="r" indent="0" marL="0">
              <a:buNone/>
            </a:pPr>
            <a:r>
              <a:rPr lang="en-US" sz="650" dirty="0">
                <a:solidFill>
                  <a:srgbClr val="A9B6C7"/>
                </a:solidFill>
              </a:rPr>
              <a:t>Kari Odermann + Dunlevy Aerospace strategic pilot</a:t>
            </a:r>
            <a:endParaRPr lang="en-US" sz="650" dirty="0"/>
          </a:p>
        </p:txBody>
      </p:sp>
      <p:sp>
        <p:nvSpPr>
          <p:cNvPr id="9" name="Text 7"/>
          <p:cNvSpPr/>
          <p:nvPr/>
        </p:nvSpPr>
        <p:spPr>
          <a:xfrm>
            <a:off x="658368" y="685800"/>
            <a:ext cx="10332720" cy="868680"/>
          </a:xfrm>
          <a:prstGeom prst="rect">
            <a:avLst/>
          </a:prstGeom>
          <a:noFill/>
          <a:ln/>
        </p:spPr>
        <p:txBody>
          <a:bodyPr wrap="square" lIns="0" tIns="0" rIns="0" bIns="0" rtlCol="0" anchor="ctr">
            <a:normAutofit/>
          </a:bodyPr>
          <a:lstStyle/>
          <a:p>
            <a:pPr indent="0" marL="0">
              <a:buNone/>
            </a:pPr>
            <a:r>
              <a:rPr lang="en-US" sz="2500" b="1" dirty="0">
                <a:solidFill>
                  <a:srgbClr val="F8FAFC"/>
                </a:solidFill>
                <a:latin typeface="Aptos Display" pitchFamily="34" charset="0"/>
                <a:ea typeface="Aptos Display" pitchFamily="34" charset="-122"/>
                <a:cs typeface="Aptos Display" pitchFamily="34" charset="-120"/>
              </a:rPr>
              <a:t>Kari Odermann: A trusted bridge between U.S. technology and European security networks</a:t>
            </a:r>
            <a:endParaRPr lang="en-US" sz="2500" dirty="0"/>
          </a:p>
        </p:txBody>
      </p:sp>
      <p:sp>
        <p:nvSpPr>
          <p:cNvPr id="10" name="Shape 8"/>
          <p:cNvSpPr/>
          <p:nvPr/>
        </p:nvSpPr>
        <p:spPr>
          <a:xfrm>
            <a:off x="685800" y="1920240"/>
            <a:ext cx="3794760" cy="3401568"/>
          </a:xfrm>
          <a:prstGeom prst="rect">
            <a:avLst/>
          </a:prstGeom>
          <a:solidFill>
            <a:srgbClr val="172535"/>
          </a:solidFill>
          <a:ln w="12700">
            <a:solidFill>
              <a:srgbClr val="3A4656">
                <a:alpha val="85000"/>
              </a:srgbClr>
            </a:solidFill>
            <a:prstDash val="solid"/>
          </a:ln>
        </p:spPr>
      </p:sp>
      <p:sp>
        <p:nvSpPr>
          <p:cNvPr id="11" name="Shape 9"/>
          <p:cNvSpPr/>
          <p:nvPr/>
        </p:nvSpPr>
        <p:spPr>
          <a:xfrm>
            <a:off x="1143000" y="2304288"/>
            <a:ext cx="1078992" cy="1078992"/>
          </a:xfrm>
          <a:prstGeom prst="arc">
            <a:avLst/>
          </a:prstGeom>
          <a:solidFill>
            <a:srgbClr val="081421">
              <a:alpha val="0"/>
            </a:srgbClr>
          </a:solidFill>
          <a:ln w="27940">
            <a:solidFill>
              <a:srgbClr val="C6A15B"/>
            </a:solidFill>
            <a:prstDash val="solid"/>
          </a:ln>
        </p:spPr>
      </p:sp>
      <p:sp>
        <p:nvSpPr>
          <p:cNvPr id="12" name="Text 10"/>
          <p:cNvSpPr/>
          <p:nvPr/>
        </p:nvSpPr>
        <p:spPr>
          <a:xfrm>
            <a:off x="932688" y="3520440"/>
            <a:ext cx="3154680" cy="566928"/>
          </a:xfrm>
          <a:prstGeom prst="rect">
            <a:avLst/>
          </a:prstGeom>
          <a:noFill/>
          <a:ln/>
        </p:spPr>
        <p:txBody>
          <a:bodyPr wrap="square" lIns="0" tIns="0" rIns="0" bIns="0" rtlCol="0" anchor="ct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Kari</a:t>
            </a:r>
            <a:endParaRPr lang="en-US" sz="2800" dirty="0"/>
          </a:p>
          <a:p>
            <a:pPr indent="0" marL="0">
              <a:buNone/>
            </a:pPr>
            <a:r>
              <a:rPr lang="en-US" sz="2800" b="1" dirty="0">
                <a:solidFill>
                  <a:srgbClr val="F8FAFC"/>
                </a:solidFill>
                <a:latin typeface="Aptos Display" pitchFamily="34" charset="0"/>
                <a:ea typeface="Aptos Display" pitchFamily="34" charset="-122"/>
                <a:cs typeface="Aptos Display" pitchFamily="34" charset="-120"/>
              </a:rPr>
              <a:t>Odermann</a:t>
            </a:r>
            <a:endParaRPr lang="en-US" sz="2800" dirty="0"/>
          </a:p>
        </p:txBody>
      </p:sp>
      <p:sp>
        <p:nvSpPr>
          <p:cNvPr id="13" name="Shape 11"/>
          <p:cNvSpPr/>
          <p:nvPr/>
        </p:nvSpPr>
        <p:spPr>
          <a:xfrm>
            <a:off x="932688" y="4343400"/>
            <a:ext cx="2286000" cy="0"/>
          </a:xfrm>
          <a:prstGeom prst="line">
            <a:avLst/>
          </a:prstGeom>
          <a:noFill/>
          <a:ln w="17780">
            <a:solidFill>
              <a:srgbClr val="C6A15B"/>
            </a:solidFill>
            <a:prstDash val="solid"/>
          </a:ln>
        </p:spPr>
      </p:sp>
      <p:sp>
        <p:nvSpPr>
          <p:cNvPr id="14" name="Text 12"/>
          <p:cNvSpPr/>
          <p:nvPr/>
        </p:nvSpPr>
        <p:spPr>
          <a:xfrm>
            <a:off x="932688" y="4590288"/>
            <a:ext cx="3063240" cy="411480"/>
          </a:xfrm>
          <a:prstGeom prst="rect">
            <a:avLst/>
          </a:prstGeom>
          <a:noFill/>
          <a:ln/>
        </p:spPr>
        <p:txBody>
          <a:bodyPr wrap="square" lIns="254" tIns="254" rIns="254" bIns="254" rtlCol="0" anchor="ctr">
            <a:normAutofit/>
          </a:bodyPr>
          <a:lstStyle/>
          <a:p>
            <a:pPr indent="0" marL="0">
              <a:buNone/>
            </a:pPr>
            <a:r>
              <a:rPr lang="en-US" sz="1020" dirty="0">
                <a:solidFill>
                  <a:srgbClr val="DDE6EF"/>
                </a:solidFill>
              </a:rPr>
              <a:t>Political analyst and communication specialist with 20+ years across security, development, and technical assistance.</a:t>
            </a:r>
            <a:endParaRPr lang="en-US" sz="1020" dirty="0"/>
          </a:p>
        </p:txBody>
      </p:sp>
      <p:sp>
        <p:nvSpPr>
          <p:cNvPr id="15" name="Shape 13"/>
          <p:cNvSpPr/>
          <p:nvPr/>
        </p:nvSpPr>
        <p:spPr>
          <a:xfrm>
            <a:off x="932688" y="2240280"/>
            <a:ext cx="960120" cy="237744"/>
          </a:xfrm>
          <a:prstGeom prst="roundRect">
            <a:avLst>
              <a:gd name="adj" fmla="val 15385"/>
            </a:avLst>
          </a:prstGeom>
          <a:solidFill>
            <a:srgbClr val="C6A15B">
              <a:alpha val="92000"/>
            </a:srgbClr>
          </a:solidFill>
          <a:ln w="12700">
            <a:solidFill>
              <a:srgbClr val="C6A15B">
                <a:alpha val="0"/>
              </a:srgbClr>
            </a:solidFill>
            <a:prstDash val="solid"/>
          </a:ln>
        </p:spPr>
      </p:sp>
      <p:sp>
        <p:nvSpPr>
          <p:cNvPr id="16" name="Text 14"/>
          <p:cNvSpPr/>
          <p:nvPr/>
        </p:nvSpPr>
        <p:spPr>
          <a:xfrm>
            <a:off x="987552" y="2295144"/>
            <a:ext cx="850392" cy="109728"/>
          </a:xfrm>
          <a:prstGeom prst="rect">
            <a:avLst/>
          </a:prstGeom>
          <a:noFill/>
          <a:ln/>
        </p:spPr>
        <p:txBody>
          <a:bodyPr wrap="square" lIns="0" tIns="0" rIns="0" bIns="0" rtlCol="0" anchor="ctr"/>
          <a:lstStyle/>
          <a:p>
            <a:pPr algn="ctr" indent="0" marL="0">
              <a:buNone/>
            </a:pPr>
            <a:r>
              <a:rPr lang="en-US" sz="580" b="1" dirty="0">
                <a:solidFill>
                  <a:srgbClr val="F8FAFC"/>
                </a:solidFill>
              </a:rPr>
              <a:t>CEPA FELLOW</a:t>
            </a:r>
            <a:endParaRPr lang="en-US" sz="580" dirty="0"/>
          </a:p>
        </p:txBody>
      </p:sp>
      <p:sp>
        <p:nvSpPr>
          <p:cNvPr id="17" name="Shape 15"/>
          <p:cNvSpPr/>
          <p:nvPr/>
        </p:nvSpPr>
        <p:spPr>
          <a:xfrm>
            <a:off x="2011680" y="2240280"/>
            <a:ext cx="1325880" cy="237744"/>
          </a:xfrm>
          <a:prstGeom prst="roundRect">
            <a:avLst>
              <a:gd name="adj" fmla="val 15385"/>
            </a:avLst>
          </a:prstGeom>
          <a:solidFill>
            <a:srgbClr val="5E8FB8">
              <a:alpha val="92000"/>
            </a:srgbClr>
          </a:solidFill>
          <a:ln w="12700">
            <a:solidFill>
              <a:srgbClr val="5E8FB8">
                <a:alpha val="0"/>
              </a:srgbClr>
            </a:solidFill>
            <a:prstDash val="solid"/>
          </a:ln>
        </p:spPr>
      </p:sp>
      <p:sp>
        <p:nvSpPr>
          <p:cNvPr id="18" name="Text 16"/>
          <p:cNvSpPr/>
          <p:nvPr/>
        </p:nvSpPr>
        <p:spPr>
          <a:xfrm>
            <a:off x="2066544" y="2295144"/>
            <a:ext cx="1216152" cy="109728"/>
          </a:xfrm>
          <a:prstGeom prst="rect">
            <a:avLst/>
          </a:prstGeom>
          <a:noFill/>
          <a:ln/>
        </p:spPr>
        <p:txBody>
          <a:bodyPr wrap="square" lIns="0" tIns="0" rIns="0" bIns="0" rtlCol="0" anchor="ctr"/>
          <a:lstStyle/>
          <a:p>
            <a:pPr algn="ctr" indent="0" marL="0">
              <a:buNone/>
            </a:pPr>
            <a:r>
              <a:rPr lang="en-US" sz="580" b="1" dirty="0">
                <a:solidFill>
                  <a:srgbClr val="F8FAFC"/>
                </a:solidFill>
              </a:rPr>
              <a:t>K2 COMMUNICATION</a:t>
            </a:r>
            <a:endParaRPr lang="en-US" sz="580" dirty="0"/>
          </a:p>
        </p:txBody>
      </p:sp>
      <p:sp>
        <p:nvSpPr>
          <p:cNvPr id="19" name="Shape 17"/>
          <p:cNvSpPr/>
          <p:nvPr/>
        </p:nvSpPr>
        <p:spPr>
          <a:xfrm>
            <a:off x="5166360" y="1901952"/>
            <a:ext cx="402336" cy="402336"/>
          </a:xfrm>
          <a:prstGeom prst="ellipse">
            <a:avLst/>
          </a:prstGeom>
          <a:solidFill>
            <a:srgbClr val="5E8FB8">
              <a:alpha val="96000"/>
            </a:srgbClr>
          </a:solidFill>
          <a:ln w="7620">
            <a:solidFill>
              <a:srgbClr val="DDE6EF">
                <a:alpha val="30000"/>
              </a:srgbClr>
            </a:solidFill>
            <a:prstDash val="solid"/>
          </a:ln>
        </p:spPr>
      </p:sp>
      <p:sp>
        <p:nvSpPr>
          <p:cNvPr id="20" name="Text 18"/>
          <p:cNvSpPr/>
          <p:nvPr/>
        </p:nvSpPr>
        <p:spPr>
          <a:xfrm>
            <a:off x="5166360" y="2002536"/>
            <a:ext cx="402336" cy="128016"/>
          </a:xfrm>
          <a:prstGeom prst="rect">
            <a:avLst/>
          </a:prstGeom>
          <a:noFill/>
          <a:ln/>
        </p:spPr>
        <p:txBody>
          <a:bodyPr wrap="square" lIns="0" tIns="0" rIns="0" bIns="0" rtlCol="0" anchor="ctr"/>
          <a:lstStyle/>
          <a:p>
            <a:pPr algn="ctr" indent="0" marL="0">
              <a:buNone/>
            </a:pPr>
            <a:r>
              <a:rPr lang="en-US" sz="850" b="1" dirty="0">
                <a:solidFill>
                  <a:srgbClr val="F8FAFC"/>
                </a:solidFill>
              </a:rPr>
              <a:t>S</a:t>
            </a:r>
            <a:endParaRPr lang="en-US" sz="850" dirty="0"/>
          </a:p>
        </p:txBody>
      </p:sp>
      <p:sp>
        <p:nvSpPr>
          <p:cNvPr id="21" name="Text 19"/>
          <p:cNvSpPr/>
          <p:nvPr/>
        </p:nvSpPr>
        <p:spPr>
          <a:xfrm>
            <a:off x="5715000" y="1874520"/>
            <a:ext cx="4114800" cy="256032"/>
          </a:xfrm>
          <a:prstGeom prst="rect">
            <a:avLst/>
          </a:prstGeom>
          <a:noFill/>
          <a:ln/>
        </p:spPr>
        <p:txBody>
          <a:bodyPr wrap="square" lIns="0" tIns="0" rIns="0" bIns="0" rtlCol="0" anchor="ctr"/>
          <a:lstStyle/>
          <a:p>
            <a:pPr indent="0" marL="0">
              <a:buNone/>
            </a:pPr>
            <a:r>
              <a:rPr lang="en-US" sz="1300" b="1" dirty="0">
                <a:solidFill>
                  <a:srgbClr val="F8FAFC"/>
                </a:solidFill>
              </a:rPr>
              <a:t>Security &amp; political communication</a:t>
            </a:r>
            <a:endParaRPr lang="en-US" sz="1300" dirty="0"/>
          </a:p>
        </p:txBody>
      </p:sp>
      <p:sp>
        <p:nvSpPr>
          <p:cNvPr id="22" name="Text 20"/>
          <p:cNvSpPr/>
          <p:nvPr/>
        </p:nvSpPr>
        <p:spPr>
          <a:xfrm>
            <a:off x="5715000" y="2221992"/>
            <a:ext cx="5166360" cy="384048"/>
          </a:xfrm>
          <a:prstGeom prst="rect">
            <a:avLst/>
          </a:prstGeom>
          <a:noFill/>
          <a:ln/>
        </p:spPr>
        <p:txBody>
          <a:bodyPr wrap="square" lIns="0" tIns="0" rIns="0" bIns="0" rtlCol="0" anchor="ctr">
            <a:normAutofit/>
          </a:bodyPr>
          <a:lstStyle/>
          <a:p>
            <a:pPr indent="0" marL="0">
              <a:buNone/>
            </a:pPr>
            <a:r>
              <a:rPr lang="en-US" sz="1020" dirty="0">
                <a:solidFill>
                  <a:srgbClr val="A9B6C7"/>
                </a:solidFill>
              </a:rPr>
              <a:t>Turns sensitive geopolitical issues into credible, board-level narratives.</a:t>
            </a:r>
            <a:endParaRPr lang="en-US" sz="1020" dirty="0"/>
          </a:p>
        </p:txBody>
      </p:sp>
      <p:sp>
        <p:nvSpPr>
          <p:cNvPr id="23" name="Shape 21"/>
          <p:cNvSpPr/>
          <p:nvPr/>
        </p:nvSpPr>
        <p:spPr>
          <a:xfrm>
            <a:off x="5166360" y="3017520"/>
            <a:ext cx="402336" cy="402336"/>
          </a:xfrm>
          <a:prstGeom prst="ellipse">
            <a:avLst/>
          </a:prstGeom>
          <a:solidFill>
            <a:srgbClr val="C6A15B">
              <a:alpha val="96000"/>
            </a:srgbClr>
          </a:solidFill>
          <a:ln w="7620">
            <a:solidFill>
              <a:srgbClr val="DDE6EF">
                <a:alpha val="30000"/>
              </a:srgbClr>
            </a:solidFill>
            <a:prstDash val="solid"/>
          </a:ln>
        </p:spPr>
      </p:sp>
      <p:sp>
        <p:nvSpPr>
          <p:cNvPr id="24" name="Text 22"/>
          <p:cNvSpPr/>
          <p:nvPr/>
        </p:nvSpPr>
        <p:spPr>
          <a:xfrm>
            <a:off x="5166360" y="3118104"/>
            <a:ext cx="402336" cy="128016"/>
          </a:xfrm>
          <a:prstGeom prst="rect">
            <a:avLst/>
          </a:prstGeom>
          <a:noFill/>
          <a:ln/>
        </p:spPr>
        <p:txBody>
          <a:bodyPr wrap="square" lIns="0" tIns="0" rIns="0" bIns="0" rtlCol="0" anchor="ctr"/>
          <a:lstStyle/>
          <a:p>
            <a:pPr algn="ctr" indent="0" marL="0">
              <a:buNone/>
            </a:pPr>
            <a:r>
              <a:rPr lang="en-US" sz="850" b="1" dirty="0">
                <a:solidFill>
                  <a:srgbClr val="F8FAFC"/>
                </a:solidFill>
              </a:rPr>
              <a:t>N</a:t>
            </a:r>
            <a:endParaRPr lang="en-US" sz="850" dirty="0"/>
          </a:p>
        </p:txBody>
      </p:sp>
      <p:sp>
        <p:nvSpPr>
          <p:cNvPr id="25" name="Text 23"/>
          <p:cNvSpPr/>
          <p:nvPr/>
        </p:nvSpPr>
        <p:spPr>
          <a:xfrm>
            <a:off x="5715000" y="2990088"/>
            <a:ext cx="4114800" cy="256032"/>
          </a:xfrm>
          <a:prstGeom prst="rect">
            <a:avLst/>
          </a:prstGeom>
          <a:noFill/>
          <a:ln/>
        </p:spPr>
        <p:txBody>
          <a:bodyPr wrap="square" lIns="0" tIns="0" rIns="0" bIns="0" rtlCol="0" anchor="ctr"/>
          <a:lstStyle/>
          <a:p>
            <a:pPr indent="0" marL="0">
              <a:buNone/>
            </a:pPr>
            <a:r>
              <a:rPr lang="en-US" sz="1300" b="1" dirty="0">
                <a:solidFill>
                  <a:srgbClr val="F8FAFC"/>
                </a:solidFill>
              </a:rPr>
              <a:t>International networks</a:t>
            </a:r>
            <a:endParaRPr lang="en-US" sz="1300" dirty="0"/>
          </a:p>
        </p:txBody>
      </p:sp>
      <p:sp>
        <p:nvSpPr>
          <p:cNvPr id="26" name="Text 24"/>
          <p:cNvSpPr/>
          <p:nvPr/>
        </p:nvSpPr>
        <p:spPr>
          <a:xfrm>
            <a:off x="5715000" y="3337560"/>
            <a:ext cx="5166360" cy="384048"/>
          </a:xfrm>
          <a:prstGeom prst="rect">
            <a:avLst/>
          </a:prstGeom>
          <a:noFill/>
          <a:ln/>
        </p:spPr>
        <p:txBody>
          <a:bodyPr wrap="square" lIns="0" tIns="0" rIns="0" bIns="0" rtlCol="0" anchor="ctr">
            <a:normAutofit/>
          </a:bodyPr>
          <a:lstStyle/>
          <a:p>
            <a:pPr indent="0" marL="0">
              <a:buNone/>
            </a:pPr>
            <a:r>
              <a:rPr lang="en-US" sz="1020" dirty="0">
                <a:solidFill>
                  <a:srgbClr val="A9B6C7"/>
                </a:solidFill>
              </a:rPr>
              <a:t>Operates across European, North American, African, and Asian security-policy contexts.</a:t>
            </a:r>
            <a:endParaRPr lang="en-US" sz="1020" dirty="0"/>
          </a:p>
        </p:txBody>
      </p:sp>
      <p:sp>
        <p:nvSpPr>
          <p:cNvPr id="27" name="Shape 25"/>
          <p:cNvSpPr/>
          <p:nvPr/>
        </p:nvSpPr>
        <p:spPr>
          <a:xfrm>
            <a:off x="5166360" y="4133088"/>
            <a:ext cx="402336" cy="402336"/>
          </a:xfrm>
          <a:prstGeom prst="ellipse">
            <a:avLst/>
          </a:prstGeom>
          <a:solidFill>
            <a:srgbClr val="5E8FB8">
              <a:alpha val="96000"/>
            </a:srgbClr>
          </a:solidFill>
          <a:ln w="7620">
            <a:solidFill>
              <a:srgbClr val="DDE6EF">
                <a:alpha val="30000"/>
              </a:srgbClr>
            </a:solidFill>
            <a:prstDash val="solid"/>
          </a:ln>
        </p:spPr>
      </p:sp>
      <p:sp>
        <p:nvSpPr>
          <p:cNvPr id="28" name="Text 26"/>
          <p:cNvSpPr/>
          <p:nvPr/>
        </p:nvSpPr>
        <p:spPr>
          <a:xfrm>
            <a:off x="5166360" y="4233672"/>
            <a:ext cx="402336" cy="128016"/>
          </a:xfrm>
          <a:prstGeom prst="rect">
            <a:avLst/>
          </a:prstGeom>
          <a:noFill/>
          <a:ln/>
        </p:spPr>
        <p:txBody>
          <a:bodyPr wrap="square" lIns="0" tIns="0" rIns="0" bIns="0" rtlCol="0" anchor="ctr"/>
          <a:lstStyle/>
          <a:p>
            <a:pPr algn="ctr" indent="0" marL="0">
              <a:buNone/>
            </a:pPr>
            <a:r>
              <a:rPr lang="en-US" sz="850" b="1" dirty="0">
                <a:solidFill>
                  <a:srgbClr val="F8FAFC"/>
                </a:solidFill>
              </a:rPr>
              <a:t>T</a:t>
            </a:r>
            <a:endParaRPr lang="en-US" sz="850" dirty="0"/>
          </a:p>
        </p:txBody>
      </p:sp>
      <p:sp>
        <p:nvSpPr>
          <p:cNvPr id="29" name="Text 27"/>
          <p:cNvSpPr/>
          <p:nvPr/>
        </p:nvSpPr>
        <p:spPr>
          <a:xfrm>
            <a:off x="5715000" y="4105656"/>
            <a:ext cx="4114800" cy="256032"/>
          </a:xfrm>
          <a:prstGeom prst="rect">
            <a:avLst/>
          </a:prstGeom>
          <a:noFill/>
          <a:ln/>
        </p:spPr>
        <p:txBody>
          <a:bodyPr wrap="square" lIns="0" tIns="0" rIns="0" bIns="0" rtlCol="0" anchor="ctr"/>
          <a:lstStyle/>
          <a:p>
            <a:pPr indent="0" marL="0">
              <a:buNone/>
            </a:pPr>
            <a:r>
              <a:rPr lang="en-US" sz="1300" b="1" dirty="0">
                <a:solidFill>
                  <a:srgbClr val="F8FAFC"/>
                </a:solidFill>
              </a:rPr>
              <a:t>Investor / policy translation</a:t>
            </a:r>
            <a:endParaRPr lang="en-US" sz="1300" dirty="0"/>
          </a:p>
        </p:txBody>
      </p:sp>
      <p:sp>
        <p:nvSpPr>
          <p:cNvPr id="30" name="Text 28"/>
          <p:cNvSpPr/>
          <p:nvPr/>
        </p:nvSpPr>
        <p:spPr>
          <a:xfrm>
            <a:off x="5715000" y="4453128"/>
            <a:ext cx="5166360" cy="384048"/>
          </a:xfrm>
          <a:prstGeom prst="rect">
            <a:avLst/>
          </a:prstGeom>
          <a:noFill/>
          <a:ln/>
        </p:spPr>
        <p:txBody>
          <a:bodyPr wrap="square" lIns="0" tIns="0" rIns="0" bIns="0" rtlCol="0" anchor="ctr">
            <a:normAutofit/>
          </a:bodyPr>
          <a:lstStyle/>
          <a:p>
            <a:pPr indent="0" marL="0">
              <a:buNone/>
            </a:pPr>
            <a:r>
              <a:rPr lang="en-US" sz="1020" dirty="0">
                <a:solidFill>
                  <a:srgbClr val="A9B6C7"/>
                </a:solidFill>
              </a:rPr>
              <a:t>Can frame U.S. UAS capabilities for European investors, policy actors, and security communities.</a:t>
            </a:r>
            <a:endParaRPr lang="en-US" sz="1020" dirty="0"/>
          </a:p>
        </p:txBody>
      </p:sp>
      <p:sp>
        <p:nvSpPr>
          <p:cNvPr id="31" name="Shape 29"/>
          <p:cNvSpPr/>
          <p:nvPr/>
        </p:nvSpPr>
        <p:spPr>
          <a:xfrm>
            <a:off x="5367528" y="2404872"/>
            <a:ext cx="0" cy="2286000"/>
          </a:xfrm>
          <a:prstGeom prst="line">
            <a:avLst/>
          </a:prstGeom>
          <a:noFill/>
          <a:ln w="13970">
            <a:solidFill>
              <a:srgbClr val="3A4656"/>
            </a:solidFill>
            <a:prstDash val="solid"/>
            <a:headEnd type="none"/>
            <a:tailEnd type="none"/>
          </a:ln>
        </p:spPr>
      </p:sp>
      <p:sp>
        <p:nvSpPr>
          <p:cNvPr id="32" name="Text 30"/>
          <p:cNvSpPr/>
          <p:nvPr/>
        </p:nvSpPr>
        <p:spPr>
          <a:xfrm>
            <a:off x="5157216" y="5321808"/>
            <a:ext cx="5897880" cy="420624"/>
          </a:xfrm>
          <a:prstGeom prst="rect">
            <a:avLst/>
          </a:prstGeom>
          <a:noFill/>
          <a:ln/>
        </p:spPr>
        <p:txBody>
          <a:bodyPr wrap="square" lIns="0" tIns="0" rIns="0" bIns="0" rtlCol="0" anchor="ctr">
            <a:normAutofit/>
          </a:bodyPr>
          <a:lstStyle/>
          <a:p>
            <a:pPr indent="0" marL="0">
              <a:buNone/>
            </a:pPr>
            <a:r>
              <a:rPr lang="en-US" sz="1500" b="1" i="1" dirty="0">
                <a:solidFill>
                  <a:srgbClr val="F8FAFC"/>
                </a:solidFill>
                <a:latin typeface="Aptos Display" pitchFamily="34" charset="0"/>
                <a:ea typeface="Aptos Display" pitchFamily="34" charset="-122"/>
                <a:cs typeface="Aptos Display" pitchFamily="34" charset="-120"/>
              </a:rPr>
              <a:t>Kari gives Dunlevy Aerospace a credible front door into European security, policy, and investor conversations that would otherwise take years to build.</a:t>
            </a:r>
            <a:endParaRPr lang="en-US" sz="1500" dirty="0"/>
          </a:p>
        </p:txBody>
      </p:sp>
      <p:sp>
        <p:nvSpPr>
          <p:cNvPr id="33" name="Text 31"/>
          <p:cNvSpPr/>
          <p:nvPr/>
        </p:nvSpPr>
        <p:spPr>
          <a:xfrm>
            <a:off x="685800" y="6062472"/>
            <a:ext cx="3657600" cy="109728"/>
          </a:xfrm>
          <a:prstGeom prst="rect">
            <a:avLst/>
          </a:prstGeom>
          <a:noFill/>
          <a:ln/>
        </p:spPr>
        <p:txBody>
          <a:bodyPr wrap="square" lIns="0" tIns="0" rIns="0" bIns="0" rtlCol="0" anchor="ctr"/>
          <a:lstStyle/>
          <a:p>
            <a:pPr indent="0" marL="0">
              <a:buNone/>
            </a:pPr>
            <a:r>
              <a:rPr lang="en-US" sz="580" dirty="0">
                <a:solidFill>
                  <a:srgbClr val="A9B6C7"/>
                </a:solidFill>
              </a:rPr>
              <a:t>Sources: CEPA; K2 Communication</a:t>
            </a:r>
            <a:endParaRPr lang="en-US" sz="5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42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421"/>
          </a:solidFill>
          <a:ln w="12700">
            <a:solidFill>
              <a:srgbClr val="081421"/>
            </a:solidFill>
            <a:prstDash val="solid"/>
          </a:ln>
        </p:spPr>
      </p:sp>
      <p:sp>
        <p:nvSpPr>
          <p:cNvPr id="3" name="Shape 1"/>
          <p:cNvSpPr/>
          <p:nvPr/>
        </p:nvSpPr>
        <p:spPr>
          <a:xfrm>
            <a:off x="0" y="0"/>
            <a:ext cx="146304" cy="6858000"/>
          </a:xfrm>
          <a:prstGeom prst="rect">
            <a:avLst/>
          </a:prstGeom>
          <a:solidFill>
            <a:srgbClr val="C6A15B"/>
          </a:solidFill>
          <a:ln w="12700">
            <a:solidFill>
              <a:srgbClr val="C6A15B"/>
            </a:solidFill>
            <a:prstDash val="solid"/>
          </a:ln>
        </p:spPr>
      </p:sp>
      <p:sp>
        <p:nvSpPr>
          <p:cNvPr id="4" name="Text 2"/>
          <p:cNvSpPr/>
          <p:nvPr/>
        </p:nvSpPr>
        <p:spPr>
          <a:xfrm>
            <a:off x="411480" y="246888"/>
            <a:ext cx="2926080" cy="201168"/>
          </a:xfrm>
          <a:prstGeom prst="rect">
            <a:avLst/>
          </a:prstGeom>
          <a:noFill/>
          <a:ln/>
        </p:spPr>
        <p:txBody>
          <a:bodyPr wrap="square" lIns="0" tIns="0" rIns="0" bIns="0" rtlCol="0" anchor="ctr"/>
          <a:lstStyle/>
          <a:p>
            <a:pPr indent="0" marL="0">
              <a:buNone/>
            </a:pPr>
            <a:r>
              <a:rPr lang="en-US" sz="750" b="1" dirty="0">
                <a:solidFill>
                  <a:srgbClr val="7EA6C7"/>
                </a:solidFill>
                <a:latin typeface="Aptos" pitchFamily="34" charset="0"/>
                <a:ea typeface="Aptos" pitchFamily="34" charset="-122"/>
                <a:cs typeface="Aptos" pitchFamily="34" charset="-120"/>
              </a:rPr>
              <a:t>MARKET SIGNAL</a:t>
            </a:r>
            <a:endParaRPr lang="en-US" sz="750" dirty="0"/>
          </a:p>
        </p:txBody>
      </p:sp>
      <p:sp>
        <p:nvSpPr>
          <p:cNvPr id="5" name="Text 3"/>
          <p:cNvSpPr/>
          <p:nvPr/>
        </p:nvSpPr>
        <p:spPr>
          <a:xfrm>
            <a:off x="11201400" y="228600"/>
            <a:ext cx="502920" cy="164592"/>
          </a:xfrm>
          <a:prstGeom prst="rect">
            <a:avLst/>
          </a:prstGeom>
          <a:noFill/>
          <a:ln/>
        </p:spPr>
        <p:txBody>
          <a:bodyPr wrap="square" lIns="0" tIns="0" rIns="0" bIns="0" rtlCol="0" anchor="ctr"/>
          <a:lstStyle/>
          <a:p>
            <a:pPr algn="r" indent="0" marL="0">
              <a:buNone/>
            </a:pPr>
            <a:r>
              <a:rPr lang="en-US" sz="750" b="1" dirty="0">
                <a:solidFill>
                  <a:srgbClr val="C6A15B"/>
                </a:solidFill>
              </a:rPr>
              <a:t>02</a:t>
            </a:r>
            <a:endParaRPr lang="en-US" sz="750" dirty="0"/>
          </a:p>
        </p:txBody>
      </p:sp>
      <p:sp>
        <p:nvSpPr>
          <p:cNvPr id="6" name="Shape 4"/>
          <p:cNvSpPr/>
          <p:nvPr/>
        </p:nvSpPr>
        <p:spPr>
          <a:xfrm>
            <a:off x="411480" y="6327648"/>
            <a:ext cx="11201400" cy="0"/>
          </a:xfrm>
          <a:prstGeom prst="line">
            <a:avLst/>
          </a:prstGeom>
          <a:noFill/>
          <a:ln w="8890">
            <a:solidFill>
              <a:srgbClr val="3A4656">
                <a:alpha val="80000"/>
              </a:srgbClr>
            </a:solidFill>
            <a:prstDash val="solid"/>
          </a:ln>
        </p:spPr>
      </p:sp>
      <p:sp>
        <p:nvSpPr>
          <p:cNvPr id="7" name="Text 5"/>
          <p:cNvSpPr/>
          <p:nvPr/>
        </p:nvSpPr>
        <p:spPr>
          <a:xfrm>
            <a:off x="411480" y="6446520"/>
            <a:ext cx="6583680" cy="146304"/>
          </a:xfrm>
          <a:prstGeom prst="rect">
            <a:avLst/>
          </a:prstGeom>
          <a:noFill/>
          <a:ln/>
        </p:spPr>
        <p:txBody>
          <a:bodyPr wrap="square" lIns="0" tIns="0" rIns="0" bIns="0" rtlCol="0" anchor="ctr"/>
          <a:lstStyle/>
          <a:p>
            <a:pPr indent="0" marL="0">
              <a:buNone/>
            </a:pPr>
            <a:r>
              <a:rPr lang="en-US" sz="650" dirty="0">
                <a:solidFill>
                  <a:srgbClr val="A9B6C7"/>
                </a:solidFill>
              </a:rPr>
              <a:t>Sources in speaker notes | Draft for board discussion</a:t>
            </a:r>
            <a:endParaRPr lang="en-US" sz="650" dirty="0"/>
          </a:p>
        </p:txBody>
      </p:sp>
      <p:sp>
        <p:nvSpPr>
          <p:cNvPr id="8" name="Text 6"/>
          <p:cNvSpPr/>
          <p:nvPr/>
        </p:nvSpPr>
        <p:spPr>
          <a:xfrm>
            <a:off x="7452360" y="6446520"/>
            <a:ext cx="4160520" cy="146304"/>
          </a:xfrm>
          <a:prstGeom prst="rect">
            <a:avLst/>
          </a:prstGeom>
          <a:noFill/>
          <a:ln/>
        </p:spPr>
        <p:txBody>
          <a:bodyPr wrap="square" lIns="0" tIns="0" rIns="0" bIns="0" rtlCol="0" anchor="ctr"/>
          <a:lstStyle/>
          <a:p>
            <a:pPr algn="r" indent="0" marL="0">
              <a:buNone/>
            </a:pPr>
            <a:r>
              <a:rPr lang="en-US" sz="650" dirty="0">
                <a:solidFill>
                  <a:srgbClr val="A9B6C7"/>
                </a:solidFill>
              </a:rPr>
              <a:t>Kari Odermann + Dunlevy Aerospace strategic pilot</a:t>
            </a:r>
            <a:endParaRPr lang="en-US" sz="650" dirty="0"/>
          </a:p>
        </p:txBody>
      </p:sp>
      <p:sp>
        <p:nvSpPr>
          <p:cNvPr id="9" name="Text 7"/>
          <p:cNvSpPr/>
          <p:nvPr/>
        </p:nvSpPr>
        <p:spPr>
          <a:xfrm>
            <a:off x="658368" y="685800"/>
            <a:ext cx="10332720" cy="868680"/>
          </a:xfrm>
          <a:prstGeom prst="rect">
            <a:avLst/>
          </a:prstGeom>
          <a:noFill/>
          <a:ln/>
        </p:spPr>
        <p:txBody>
          <a:bodyPr wrap="square" lIns="0" tIns="0" rIns="0" bIns="0" rtlCol="0" anchor="ctr">
            <a:normAutofit/>
          </a:bodyPr>
          <a:lstStyle/>
          <a:p>
            <a:pPr indent="0" marL="0">
              <a:buNone/>
            </a:pPr>
            <a:r>
              <a:rPr lang="en-US" sz="2500" b="1" dirty="0">
                <a:solidFill>
                  <a:srgbClr val="F8FAFC"/>
                </a:solidFill>
                <a:latin typeface="Aptos Display" pitchFamily="34" charset="0"/>
                <a:ea typeface="Aptos Display" pitchFamily="34" charset="-122"/>
                <a:cs typeface="Aptos Display" pitchFamily="34" charset="-120"/>
              </a:rPr>
              <a:t>Her network sits where European defence demand is being shaped</a:t>
            </a:r>
            <a:endParaRPr lang="en-US" sz="2500" dirty="0"/>
          </a:p>
        </p:txBody>
      </p:sp>
      <p:sp>
        <p:nvSpPr>
          <p:cNvPr id="10" name="Shape 8"/>
          <p:cNvSpPr/>
          <p:nvPr/>
        </p:nvSpPr>
        <p:spPr>
          <a:xfrm>
            <a:off x="4343400" y="1993392"/>
            <a:ext cx="2880360" cy="1463040"/>
          </a:xfrm>
          <a:prstGeom prst="ellipse">
            <a:avLst/>
          </a:prstGeom>
          <a:solidFill>
            <a:srgbClr val="172535"/>
          </a:solidFill>
          <a:ln w="15240">
            <a:solidFill>
              <a:srgbClr val="C6A15B"/>
            </a:solidFill>
            <a:prstDash val="solid"/>
          </a:ln>
        </p:spPr>
      </p:sp>
      <p:sp>
        <p:nvSpPr>
          <p:cNvPr id="11" name="Text 9"/>
          <p:cNvSpPr/>
          <p:nvPr/>
        </p:nvSpPr>
        <p:spPr>
          <a:xfrm>
            <a:off x="4736592" y="2395728"/>
            <a:ext cx="2057400" cy="457200"/>
          </a:xfrm>
          <a:prstGeom prst="rect">
            <a:avLst/>
          </a:prstGeom>
          <a:noFill/>
          <a:ln/>
        </p:spPr>
        <p:txBody>
          <a:bodyPr wrap="square" lIns="0" tIns="0" rIns="0" bIns="0" rtlCol="0" anchor="ctr"/>
          <a:lstStyle/>
          <a:p>
            <a:pPr algn="ctr" indent="0" marL="0">
              <a:buNone/>
            </a:pPr>
            <a:r>
              <a:rPr lang="en-US" sz="1700" b="1" dirty="0">
                <a:solidFill>
                  <a:srgbClr val="F8FAFC"/>
                </a:solidFill>
                <a:latin typeface="Aptos Display" pitchFamily="34" charset="0"/>
                <a:ea typeface="Aptos Display" pitchFamily="34" charset="-122"/>
                <a:cs typeface="Aptos Display" pitchFamily="34" charset="-120"/>
              </a:rPr>
              <a:t>EU / NATO</a:t>
            </a:r>
            <a:endParaRPr lang="en-US" sz="1700" dirty="0"/>
          </a:p>
          <a:p>
            <a:pPr algn="ctr" indent="0" marL="0">
              <a:buNone/>
            </a:pPr>
            <a:r>
              <a:rPr lang="en-US" sz="1700" b="1" dirty="0">
                <a:solidFill>
                  <a:srgbClr val="F8FAFC"/>
                </a:solidFill>
                <a:latin typeface="Aptos Display" pitchFamily="34" charset="0"/>
                <a:ea typeface="Aptos Display" pitchFamily="34" charset="-122"/>
                <a:cs typeface="Aptos Display" pitchFamily="34" charset="-120"/>
              </a:rPr>
              <a:t>security ecosystem</a:t>
            </a:r>
            <a:endParaRPr lang="en-US" sz="1700" dirty="0"/>
          </a:p>
        </p:txBody>
      </p:sp>
      <p:sp>
        <p:nvSpPr>
          <p:cNvPr id="12" name="Shape 10"/>
          <p:cNvSpPr/>
          <p:nvPr/>
        </p:nvSpPr>
        <p:spPr>
          <a:xfrm>
            <a:off x="5788152" y="2724912"/>
            <a:ext cx="-4069080" cy="-658368"/>
          </a:xfrm>
          <a:prstGeom prst="line">
            <a:avLst/>
          </a:prstGeom>
          <a:noFill/>
          <a:ln w="12700">
            <a:solidFill>
              <a:srgbClr val="3A4656">
                <a:alpha val="92000"/>
              </a:srgbClr>
            </a:solidFill>
            <a:prstDash val="solid"/>
          </a:ln>
        </p:spPr>
      </p:sp>
      <p:sp>
        <p:nvSpPr>
          <p:cNvPr id="13" name="Shape 11"/>
          <p:cNvSpPr/>
          <p:nvPr/>
        </p:nvSpPr>
        <p:spPr>
          <a:xfrm>
            <a:off x="960120" y="1810512"/>
            <a:ext cx="1508760" cy="530352"/>
          </a:xfrm>
          <a:prstGeom prst="roundRect">
            <a:avLst>
              <a:gd name="adj" fmla="val 6897"/>
            </a:avLst>
          </a:prstGeom>
          <a:solidFill>
            <a:srgbClr val="172535"/>
          </a:solidFill>
          <a:ln w="10160">
            <a:solidFill>
              <a:srgbClr val="5E8FB8">
                <a:alpha val="65000"/>
              </a:srgbClr>
            </a:solidFill>
            <a:prstDash val="solid"/>
          </a:ln>
        </p:spPr>
      </p:sp>
      <p:sp>
        <p:nvSpPr>
          <p:cNvPr id="14" name="Text 12"/>
          <p:cNvSpPr/>
          <p:nvPr/>
        </p:nvSpPr>
        <p:spPr>
          <a:xfrm>
            <a:off x="1051560" y="1911096"/>
            <a:ext cx="1325880" cy="146304"/>
          </a:xfrm>
          <a:prstGeom prst="rect">
            <a:avLst/>
          </a:prstGeom>
          <a:noFill/>
          <a:ln/>
        </p:spPr>
        <p:txBody>
          <a:bodyPr wrap="square" lIns="0" tIns="0" rIns="0" bIns="0" rtlCol="0" anchor="ctr"/>
          <a:lstStyle/>
          <a:p>
            <a:pPr algn="ctr" indent="0" marL="0">
              <a:buNone/>
            </a:pPr>
            <a:r>
              <a:rPr lang="en-US" sz="870" b="1" dirty="0">
                <a:solidFill>
                  <a:srgbClr val="F8FAFC"/>
                </a:solidFill>
              </a:rPr>
              <a:t>Investors</a:t>
            </a:r>
            <a:endParaRPr lang="en-US" sz="870" dirty="0"/>
          </a:p>
        </p:txBody>
      </p:sp>
      <p:sp>
        <p:nvSpPr>
          <p:cNvPr id="15" name="Text 13"/>
          <p:cNvSpPr/>
          <p:nvPr/>
        </p:nvSpPr>
        <p:spPr>
          <a:xfrm>
            <a:off x="1051560" y="2121408"/>
            <a:ext cx="1325880" cy="91440"/>
          </a:xfrm>
          <a:prstGeom prst="rect">
            <a:avLst/>
          </a:prstGeom>
          <a:noFill/>
          <a:ln/>
        </p:spPr>
        <p:txBody>
          <a:bodyPr wrap="square" lIns="0" tIns="0" rIns="0" bIns="0" rtlCol="0" anchor="ctr"/>
          <a:lstStyle/>
          <a:p>
            <a:pPr algn="ctr" indent="0" marL="0">
              <a:buNone/>
            </a:pPr>
            <a:r>
              <a:rPr lang="en-US" sz="490" b="1" dirty="0">
                <a:solidFill>
                  <a:srgbClr val="A9B6C7"/>
                </a:solidFill>
              </a:rPr>
              <a:t>CAPITAL</a:t>
            </a:r>
            <a:endParaRPr lang="en-US" sz="490" dirty="0"/>
          </a:p>
        </p:txBody>
      </p:sp>
      <p:sp>
        <p:nvSpPr>
          <p:cNvPr id="16" name="Shape 14"/>
          <p:cNvSpPr/>
          <p:nvPr/>
        </p:nvSpPr>
        <p:spPr>
          <a:xfrm>
            <a:off x="5788152" y="2724912"/>
            <a:ext cx="-2194560" cy="1783080"/>
          </a:xfrm>
          <a:prstGeom prst="line">
            <a:avLst/>
          </a:prstGeom>
          <a:noFill/>
          <a:ln w="12700">
            <a:solidFill>
              <a:srgbClr val="3A4656">
                <a:alpha val="92000"/>
              </a:srgbClr>
            </a:solidFill>
            <a:prstDash val="solid"/>
          </a:ln>
        </p:spPr>
      </p:sp>
      <p:sp>
        <p:nvSpPr>
          <p:cNvPr id="17" name="Shape 15"/>
          <p:cNvSpPr/>
          <p:nvPr/>
        </p:nvSpPr>
        <p:spPr>
          <a:xfrm>
            <a:off x="2834640" y="4251960"/>
            <a:ext cx="1508760" cy="530352"/>
          </a:xfrm>
          <a:prstGeom prst="roundRect">
            <a:avLst>
              <a:gd name="adj" fmla="val 6897"/>
            </a:avLst>
          </a:prstGeom>
          <a:solidFill>
            <a:srgbClr val="101C2A"/>
          </a:solidFill>
          <a:ln w="10160">
            <a:solidFill>
              <a:srgbClr val="5E8FB8">
                <a:alpha val="65000"/>
              </a:srgbClr>
            </a:solidFill>
            <a:prstDash val="solid"/>
          </a:ln>
        </p:spPr>
      </p:sp>
      <p:sp>
        <p:nvSpPr>
          <p:cNvPr id="18" name="Text 16"/>
          <p:cNvSpPr/>
          <p:nvPr/>
        </p:nvSpPr>
        <p:spPr>
          <a:xfrm>
            <a:off x="2926080" y="4352544"/>
            <a:ext cx="1325880" cy="146304"/>
          </a:xfrm>
          <a:prstGeom prst="rect">
            <a:avLst/>
          </a:prstGeom>
          <a:noFill/>
          <a:ln/>
        </p:spPr>
        <p:txBody>
          <a:bodyPr wrap="square" lIns="0" tIns="0" rIns="0" bIns="0" rtlCol="0" anchor="ctr"/>
          <a:lstStyle/>
          <a:p>
            <a:pPr algn="ctr" indent="0" marL="0">
              <a:buNone/>
            </a:pPr>
            <a:r>
              <a:rPr lang="en-US" sz="870" b="1" dirty="0">
                <a:solidFill>
                  <a:srgbClr val="F8FAFC"/>
                </a:solidFill>
              </a:rPr>
              <a:t>Policy leaders</a:t>
            </a:r>
            <a:endParaRPr lang="en-US" sz="870" dirty="0"/>
          </a:p>
        </p:txBody>
      </p:sp>
      <p:sp>
        <p:nvSpPr>
          <p:cNvPr id="19" name="Text 17"/>
          <p:cNvSpPr/>
          <p:nvPr/>
        </p:nvSpPr>
        <p:spPr>
          <a:xfrm>
            <a:off x="2926080" y="4562856"/>
            <a:ext cx="1325880" cy="91440"/>
          </a:xfrm>
          <a:prstGeom prst="rect">
            <a:avLst/>
          </a:prstGeom>
          <a:noFill/>
          <a:ln/>
        </p:spPr>
        <p:txBody>
          <a:bodyPr wrap="square" lIns="0" tIns="0" rIns="0" bIns="0" rtlCol="0" anchor="ctr"/>
          <a:lstStyle/>
          <a:p>
            <a:pPr algn="ctr" indent="0" marL="0">
              <a:buNone/>
            </a:pPr>
            <a:r>
              <a:rPr lang="en-US" sz="490" b="1" dirty="0">
                <a:solidFill>
                  <a:srgbClr val="A9B6C7"/>
                </a:solidFill>
              </a:rPr>
              <a:t>PRIORITIES</a:t>
            </a:r>
            <a:endParaRPr lang="en-US" sz="490" dirty="0"/>
          </a:p>
        </p:txBody>
      </p:sp>
      <p:sp>
        <p:nvSpPr>
          <p:cNvPr id="20" name="Shape 18"/>
          <p:cNvSpPr/>
          <p:nvPr/>
        </p:nvSpPr>
        <p:spPr>
          <a:xfrm>
            <a:off x="5788152" y="2724912"/>
            <a:ext cx="2606040" cy="-859536"/>
          </a:xfrm>
          <a:prstGeom prst="line">
            <a:avLst/>
          </a:prstGeom>
          <a:noFill/>
          <a:ln w="12700">
            <a:solidFill>
              <a:srgbClr val="3A4656">
                <a:alpha val="92000"/>
              </a:srgbClr>
            </a:solidFill>
            <a:prstDash val="solid"/>
          </a:ln>
        </p:spPr>
      </p:sp>
      <p:sp>
        <p:nvSpPr>
          <p:cNvPr id="21" name="Shape 19"/>
          <p:cNvSpPr/>
          <p:nvPr/>
        </p:nvSpPr>
        <p:spPr>
          <a:xfrm>
            <a:off x="7635240" y="1609344"/>
            <a:ext cx="1508760" cy="530352"/>
          </a:xfrm>
          <a:prstGeom prst="roundRect">
            <a:avLst>
              <a:gd name="adj" fmla="val 6897"/>
            </a:avLst>
          </a:prstGeom>
          <a:solidFill>
            <a:srgbClr val="172535"/>
          </a:solidFill>
          <a:ln w="10160">
            <a:solidFill>
              <a:srgbClr val="5E8FB8">
                <a:alpha val="65000"/>
              </a:srgbClr>
            </a:solidFill>
            <a:prstDash val="solid"/>
          </a:ln>
        </p:spPr>
      </p:sp>
      <p:sp>
        <p:nvSpPr>
          <p:cNvPr id="22" name="Text 20"/>
          <p:cNvSpPr/>
          <p:nvPr/>
        </p:nvSpPr>
        <p:spPr>
          <a:xfrm>
            <a:off x="7726680" y="1709928"/>
            <a:ext cx="1325880" cy="146304"/>
          </a:xfrm>
          <a:prstGeom prst="rect">
            <a:avLst/>
          </a:prstGeom>
          <a:noFill/>
          <a:ln/>
        </p:spPr>
        <p:txBody>
          <a:bodyPr wrap="square" lIns="0" tIns="0" rIns="0" bIns="0" rtlCol="0" anchor="ctr"/>
          <a:lstStyle/>
          <a:p>
            <a:pPr algn="ctr" indent="0" marL="0">
              <a:buNone/>
            </a:pPr>
            <a:r>
              <a:rPr lang="en-US" sz="870" b="1" dirty="0">
                <a:solidFill>
                  <a:srgbClr val="F8FAFC"/>
                </a:solidFill>
              </a:rPr>
              <a:t>Defence industry</a:t>
            </a:r>
            <a:endParaRPr lang="en-US" sz="870" dirty="0"/>
          </a:p>
        </p:txBody>
      </p:sp>
      <p:sp>
        <p:nvSpPr>
          <p:cNvPr id="23" name="Text 21"/>
          <p:cNvSpPr/>
          <p:nvPr/>
        </p:nvSpPr>
        <p:spPr>
          <a:xfrm>
            <a:off x="7726680" y="1920240"/>
            <a:ext cx="1325880" cy="91440"/>
          </a:xfrm>
          <a:prstGeom prst="rect">
            <a:avLst/>
          </a:prstGeom>
          <a:noFill/>
          <a:ln/>
        </p:spPr>
        <p:txBody>
          <a:bodyPr wrap="square" lIns="0" tIns="0" rIns="0" bIns="0" rtlCol="0" anchor="ctr"/>
          <a:lstStyle/>
          <a:p>
            <a:pPr algn="ctr" indent="0" marL="0">
              <a:buNone/>
            </a:pPr>
            <a:r>
              <a:rPr lang="en-US" sz="490" b="1" dirty="0">
                <a:solidFill>
                  <a:srgbClr val="A9B6C7"/>
                </a:solidFill>
              </a:rPr>
              <a:t>PARTNERS</a:t>
            </a:r>
            <a:endParaRPr lang="en-US" sz="490" dirty="0"/>
          </a:p>
        </p:txBody>
      </p:sp>
      <p:sp>
        <p:nvSpPr>
          <p:cNvPr id="24" name="Shape 22"/>
          <p:cNvSpPr/>
          <p:nvPr/>
        </p:nvSpPr>
        <p:spPr>
          <a:xfrm>
            <a:off x="5788152" y="2724912"/>
            <a:ext cx="3913632" cy="1627632"/>
          </a:xfrm>
          <a:prstGeom prst="line">
            <a:avLst/>
          </a:prstGeom>
          <a:noFill/>
          <a:ln w="12700">
            <a:solidFill>
              <a:srgbClr val="3A4656">
                <a:alpha val="92000"/>
              </a:srgbClr>
            </a:solidFill>
            <a:prstDash val="solid"/>
          </a:ln>
        </p:spPr>
      </p:sp>
      <p:sp>
        <p:nvSpPr>
          <p:cNvPr id="25" name="Shape 23"/>
          <p:cNvSpPr/>
          <p:nvPr/>
        </p:nvSpPr>
        <p:spPr>
          <a:xfrm>
            <a:off x="8942832" y="4096512"/>
            <a:ext cx="1508760" cy="530352"/>
          </a:xfrm>
          <a:prstGeom prst="roundRect">
            <a:avLst>
              <a:gd name="adj" fmla="val 6897"/>
            </a:avLst>
          </a:prstGeom>
          <a:solidFill>
            <a:srgbClr val="101C2A"/>
          </a:solidFill>
          <a:ln w="10160">
            <a:solidFill>
              <a:srgbClr val="5E8FB8">
                <a:alpha val="65000"/>
              </a:srgbClr>
            </a:solidFill>
            <a:prstDash val="solid"/>
          </a:ln>
        </p:spPr>
      </p:sp>
      <p:sp>
        <p:nvSpPr>
          <p:cNvPr id="26" name="Text 24"/>
          <p:cNvSpPr/>
          <p:nvPr/>
        </p:nvSpPr>
        <p:spPr>
          <a:xfrm>
            <a:off x="9034272" y="4197096"/>
            <a:ext cx="1325880" cy="146304"/>
          </a:xfrm>
          <a:prstGeom prst="rect">
            <a:avLst/>
          </a:prstGeom>
          <a:noFill/>
          <a:ln/>
        </p:spPr>
        <p:txBody>
          <a:bodyPr wrap="square" lIns="0" tIns="0" rIns="0" bIns="0" rtlCol="0" anchor="ctr"/>
          <a:lstStyle/>
          <a:p>
            <a:pPr algn="ctr" indent="0" marL="0">
              <a:buNone/>
            </a:pPr>
            <a:r>
              <a:rPr lang="en-US" sz="870" b="1" dirty="0">
                <a:solidFill>
                  <a:srgbClr val="F8FAFC"/>
                </a:solidFill>
              </a:rPr>
              <a:t>Dual-use tech</a:t>
            </a:r>
            <a:endParaRPr lang="en-US" sz="870" dirty="0"/>
          </a:p>
        </p:txBody>
      </p:sp>
      <p:sp>
        <p:nvSpPr>
          <p:cNvPr id="27" name="Text 25"/>
          <p:cNvSpPr/>
          <p:nvPr/>
        </p:nvSpPr>
        <p:spPr>
          <a:xfrm>
            <a:off x="9034272" y="4407408"/>
            <a:ext cx="1325880" cy="91440"/>
          </a:xfrm>
          <a:prstGeom prst="rect">
            <a:avLst/>
          </a:prstGeom>
          <a:noFill/>
          <a:ln/>
        </p:spPr>
        <p:txBody>
          <a:bodyPr wrap="square" lIns="0" tIns="0" rIns="0" bIns="0" rtlCol="0" anchor="ctr"/>
          <a:lstStyle/>
          <a:p>
            <a:pPr algn="ctr" indent="0" marL="0">
              <a:buNone/>
            </a:pPr>
            <a:r>
              <a:rPr lang="en-US" sz="490" b="1" dirty="0">
                <a:solidFill>
                  <a:srgbClr val="A9B6C7"/>
                </a:solidFill>
              </a:rPr>
              <a:t>APPLICATIONS</a:t>
            </a:r>
            <a:endParaRPr lang="en-US" sz="490" dirty="0"/>
          </a:p>
        </p:txBody>
      </p:sp>
      <p:sp>
        <p:nvSpPr>
          <p:cNvPr id="28" name="Shape 26"/>
          <p:cNvSpPr/>
          <p:nvPr/>
        </p:nvSpPr>
        <p:spPr>
          <a:xfrm>
            <a:off x="5788152" y="2724912"/>
            <a:ext cx="-320040" cy="2450592"/>
          </a:xfrm>
          <a:prstGeom prst="line">
            <a:avLst/>
          </a:prstGeom>
          <a:noFill/>
          <a:ln w="12700">
            <a:solidFill>
              <a:srgbClr val="3A4656">
                <a:alpha val="92000"/>
              </a:srgbClr>
            </a:solidFill>
            <a:prstDash val="solid"/>
          </a:ln>
        </p:spPr>
      </p:sp>
      <p:sp>
        <p:nvSpPr>
          <p:cNvPr id="29" name="Shape 27"/>
          <p:cNvSpPr/>
          <p:nvPr/>
        </p:nvSpPr>
        <p:spPr>
          <a:xfrm>
            <a:off x="4709160" y="4919472"/>
            <a:ext cx="1508760" cy="530352"/>
          </a:xfrm>
          <a:prstGeom prst="roundRect">
            <a:avLst>
              <a:gd name="adj" fmla="val 6897"/>
            </a:avLst>
          </a:prstGeom>
          <a:solidFill>
            <a:srgbClr val="101C2A"/>
          </a:solidFill>
          <a:ln w="10160">
            <a:solidFill>
              <a:srgbClr val="C6A15B">
                <a:alpha val="65000"/>
              </a:srgbClr>
            </a:solidFill>
            <a:prstDash val="solid"/>
          </a:ln>
        </p:spPr>
      </p:sp>
      <p:sp>
        <p:nvSpPr>
          <p:cNvPr id="30" name="Text 28"/>
          <p:cNvSpPr/>
          <p:nvPr/>
        </p:nvSpPr>
        <p:spPr>
          <a:xfrm>
            <a:off x="4800600" y="5020056"/>
            <a:ext cx="1325880" cy="146304"/>
          </a:xfrm>
          <a:prstGeom prst="rect">
            <a:avLst/>
          </a:prstGeom>
          <a:noFill/>
          <a:ln/>
        </p:spPr>
        <p:txBody>
          <a:bodyPr wrap="square" lIns="0" tIns="0" rIns="0" bIns="0" rtlCol="0" anchor="ctr"/>
          <a:lstStyle/>
          <a:p>
            <a:pPr algn="ctr" indent="0" marL="0">
              <a:buNone/>
            </a:pPr>
            <a:r>
              <a:rPr lang="en-US" sz="870" b="1" dirty="0">
                <a:solidFill>
                  <a:srgbClr val="F8FAFC"/>
                </a:solidFill>
              </a:rPr>
              <a:t>Ukraine / eastern flank</a:t>
            </a:r>
            <a:endParaRPr lang="en-US" sz="870" dirty="0"/>
          </a:p>
        </p:txBody>
      </p:sp>
      <p:sp>
        <p:nvSpPr>
          <p:cNvPr id="31" name="Text 29"/>
          <p:cNvSpPr/>
          <p:nvPr/>
        </p:nvSpPr>
        <p:spPr>
          <a:xfrm>
            <a:off x="4800600" y="5230368"/>
            <a:ext cx="1325880" cy="91440"/>
          </a:xfrm>
          <a:prstGeom prst="rect">
            <a:avLst/>
          </a:prstGeom>
          <a:noFill/>
          <a:ln/>
        </p:spPr>
        <p:txBody>
          <a:bodyPr wrap="square" lIns="0" tIns="0" rIns="0" bIns="0" rtlCol="0" anchor="ctr"/>
          <a:lstStyle/>
          <a:p>
            <a:pPr algn="ctr" indent="0" marL="0">
              <a:buNone/>
            </a:pPr>
            <a:r>
              <a:rPr lang="en-US" sz="490" b="1" dirty="0">
                <a:solidFill>
                  <a:srgbClr val="A9B6C7"/>
                </a:solidFill>
              </a:rPr>
              <a:t>URGENCY</a:t>
            </a:r>
            <a:endParaRPr lang="en-US" sz="490" dirty="0"/>
          </a:p>
        </p:txBody>
      </p:sp>
      <p:sp>
        <p:nvSpPr>
          <p:cNvPr id="32" name="Shape 30"/>
          <p:cNvSpPr/>
          <p:nvPr/>
        </p:nvSpPr>
        <p:spPr>
          <a:xfrm>
            <a:off x="5788152" y="2724912"/>
            <a:ext cx="-3913632" cy="713232"/>
          </a:xfrm>
          <a:prstGeom prst="line">
            <a:avLst/>
          </a:prstGeom>
          <a:noFill/>
          <a:ln w="12700">
            <a:solidFill>
              <a:srgbClr val="3A4656">
                <a:alpha val="92000"/>
              </a:srgbClr>
            </a:solidFill>
            <a:prstDash val="solid"/>
          </a:ln>
        </p:spPr>
      </p:sp>
      <p:sp>
        <p:nvSpPr>
          <p:cNvPr id="33" name="Shape 31"/>
          <p:cNvSpPr/>
          <p:nvPr/>
        </p:nvSpPr>
        <p:spPr>
          <a:xfrm>
            <a:off x="1115568" y="3182112"/>
            <a:ext cx="1508760" cy="530352"/>
          </a:xfrm>
          <a:prstGeom prst="roundRect">
            <a:avLst>
              <a:gd name="adj" fmla="val 6897"/>
            </a:avLst>
          </a:prstGeom>
          <a:solidFill>
            <a:srgbClr val="101C2A"/>
          </a:solidFill>
          <a:ln w="10160">
            <a:solidFill>
              <a:srgbClr val="5E8FB8">
                <a:alpha val="65000"/>
              </a:srgbClr>
            </a:solidFill>
            <a:prstDash val="solid"/>
          </a:ln>
        </p:spPr>
      </p:sp>
      <p:sp>
        <p:nvSpPr>
          <p:cNvPr id="34" name="Text 32"/>
          <p:cNvSpPr/>
          <p:nvPr/>
        </p:nvSpPr>
        <p:spPr>
          <a:xfrm>
            <a:off x="1207008" y="3282696"/>
            <a:ext cx="1325880" cy="146304"/>
          </a:xfrm>
          <a:prstGeom prst="rect">
            <a:avLst/>
          </a:prstGeom>
          <a:noFill/>
          <a:ln/>
        </p:spPr>
        <p:txBody>
          <a:bodyPr wrap="square" lIns="0" tIns="0" rIns="0" bIns="0" rtlCol="0" anchor="ctr"/>
          <a:lstStyle/>
          <a:p>
            <a:pPr algn="ctr" indent="0" marL="0">
              <a:buNone/>
            </a:pPr>
            <a:r>
              <a:rPr lang="en-US" sz="870" b="1" dirty="0">
                <a:solidFill>
                  <a:srgbClr val="F8FAFC"/>
                </a:solidFill>
              </a:rPr>
              <a:t>Security forums</a:t>
            </a:r>
            <a:endParaRPr lang="en-US" sz="870" dirty="0"/>
          </a:p>
        </p:txBody>
      </p:sp>
      <p:sp>
        <p:nvSpPr>
          <p:cNvPr id="35" name="Text 33"/>
          <p:cNvSpPr/>
          <p:nvPr/>
        </p:nvSpPr>
        <p:spPr>
          <a:xfrm>
            <a:off x="1207008" y="3493008"/>
            <a:ext cx="1325880" cy="91440"/>
          </a:xfrm>
          <a:prstGeom prst="rect">
            <a:avLst/>
          </a:prstGeom>
          <a:noFill/>
          <a:ln/>
        </p:spPr>
        <p:txBody>
          <a:bodyPr wrap="square" lIns="0" tIns="0" rIns="0" bIns="0" rtlCol="0" anchor="ctr"/>
          <a:lstStyle/>
          <a:p>
            <a:pPr algn="ctr" indent="0" marL="0">
              <a:buNone/>
            </a:pPr>
            <a:r>
              <a:rPr lang="en-US" sz="490" b="1" dirty="0">
                <a:solidFill>
                  <a:srgbClr val="A9B6C7"/>
                </a:solidFill>
              </a:rPr>
              <a:t>SIGNALS</a:t>
            </a:r>
            <a:endParaRPr lang="en-US" sz="490" dirty="0"/>
          </a:p>
        </p:txBody>
      </p:sp>
      <p:sp>
        <p:nvSpPr>
          <p:cNvPr id="36" name="Text 34"/>
          <p:cNvSpPr/>
          <p:nvPr/>
        </p:nvSpPr>
        <p:spPr>
          <a:xfrm>
            <a:off x="8046720" y="2148840"/>
            <a:ext cx="1920240" cy="274320"/>
          </a:xfrm>
          <a:prstGeom prst="rect">
            <a:avLst/>
          </a:prstGeom>
          <a:noFill/>
          <a:ln/>
        </p:spPr>
        <p:txBody>
          <a:bodyPr wrap="square" lIns="0" tIns="0" rIns="0" bIns="0" rtlCol="0" anchor="ctr"/>
          <a:lstStyle/>
          <a:p>
            <a:pPr indent="0" marL="0">
              <a:buNone/>
            </a:pPr>
            <a:r>
              <a:rPr lang="en-US" sz="1800" b="1" dirty="0">
                <a:solidFill>
                  <a:srgbClr val="F8FAFC"/>
                </a:solidFill>
                <a:latin typeface="Aptos Display" pitchFamily="34" charset="0"/>
                <a:ea typeface="Aptos Display" pitchFamily="34" charset="-122"/>
                <a:cs typeface="Aptos Display" pitchFamily="34" charset="-120"/>
              </a:rPr>
              <a:t>EUR 343B</a:t>
            </a:r>
            <a:endParaRPr lang="en-US" sz="1800" dirty="0"/>
          </a:p>
        </p:txBody>
      </p:sp>
      <p:sp>
        <p:nvSpPr>
          <p:cNvPr id="37" name="Text 35"/>
          <p:cNvSpPr/>
          <p:nvPr/>
        </p:nvSpPr>
        <p:spPr>
          <a:xfrm>
            <a:off x="8046720" y="2468880"/>
            <a:ext cx="2697480" cy="219456"/>
          </a:xfrm>
          <a:prstGeom prst="rect">
            <a:avLst/>
          </a:prstGeom>
          <a:noFill/>
          <a:ln/>
        </p:spPr>
        <p:txBody>
          <a:bodyPr wrap="square" lIns="0" tIns="0" rIns="0" bIns="0" rtlCol="0" anchor="ctr">
            <a:normAutofit/>
          </a:bodyPr>
          <a:lstStyle/>
          <a:p>
            <a:pPr indent="0" marL="0">
              <a:buNone/>
            </a:pPr>
            <a:r>
              <a:rPr lang="en-US" sz="810" dirty="0">
                <a:solidFill>
                  <a:srgbClr val="A9B6C7"/>
                </a:solidFill>
              </a:rPr>
              <a:t>EU member state defence expenditure reached in 2024</a:t>
            </a:r>
            <a:endParaRPr lang="en-US" sz="810" dirty="0"/>
          </a:p>
        </p:txBody>
      </p:sp>
      <p:sp>
        <p:nvSpPr>
          <p:cNvPr id="38" name="Text 36"/>
          <p:cNvSpPr/>
          <p:nvPr/>
        </p:nvSpPr>
        <p:spPr>
          <a:xfrm>
            <a:off x="8046720" y="2898648"/>
            <a:ext cx="1920240" cy="274320"/>
          </a:xfrm>
          <a:prstGeom prst="rect">
            <a:avLst/>
          </a:prstGeom>
          <a:noFill/>
          <a:ln/>
        </p:spPr>
        <p:txBody>
          <a:bodyPr wrap="square" lIns="0" tIns="0" rIns="0" bIns="0" rtlCol="0" anchor="ctr"/>
          <a:lstStyle/>
          <a:p>
            <a:pPr indent="0" marL="0">
              <a:buNone/>
            </a:pPr>
            <a:r>
              <a:rPr lang="en-US" sz="1800" b="1" dirty="0">
                <a:solidFill>
                  <a:srgbClr val="F8FAFC"/>
                </a:solidFill>
                <a:latin typeface="Aptos Display" pitchFamily="34" charset="0"/>
                <a:ea typeface="Aptos Display" pitchFamily="34" charset="-122"/>
                <a:cs typeface="Aptos Display" pitchFamily="34" charset="-120"/>
              </a:rPr>
              <a:t>EUR 381B</a:t>
            </a:r>
            <a:endParaRPr lang="en-US" sz="1800" dirty="0"/>
          </a:p>
        </p:txBody>
      </p:sp>
      <p:sp>
        <p:nvSpPr>
          <p:cNvPr id="39" name="Text 37"/>
          <p:cNvSpPr/>
          <p:nvPr/>
        </p:nvSpPr>
        <p:spPr>
          <a:xfrm>
            <a:off x="8046720" y="3218688"/>
            <a:ext cx="2697480" cy="219456"/>
          </a:xfrm>
          <a:prstGeom prst="rect">
            <a:avLst/>
          </a:prstGeom>
          <a:noFill/>
          <a:ln/>
        </p:spPr>
        <p:txBody>
          <a:bodyPr wrap="square" lIns="0" tIns="0" rIns="0" bIns="0" rtlCol="0" anchor="ctr">
            <a:normAutofit/>
          </a:bodyPr>
          <a:lstStyle/>
          <a:p>
            <a:pPr indent="0" marL="0">
              <a:buNone/>
            </a:pPr>
            <a:r>
              <a:rPr lang="en-US" sz="810" dirty="0">
                <a:solidFill>
                  <a:srgbClr val="A9B6C7"/>
                </a:solidFill>
              </a:rPr>
              <a:t>estimated EU member state defence expenditure in 2025</a:t>
            </a:r>
            <a:endParaRPr lang="en-US" sz="810" dirty="0"/>
          </a:p>
        </p:txBody>
      </p:sp>
      <p:sp>
        <p:nvSpPr>
          <p:cNvPr id="40" name="Text 38"/>
          <p:cNvSpPr/>
          <p:nvPr/>
        </p:nvSpPr>
        <p:spPr>
          <a:xfrm>
            <a:off x="8046720" y="3648456"/>
            <a:ext cx="1920240" cy="274320"/>
          </a:xfrm>
          <a:prstGeom prst="rect">
            <a:avLst/>
          </a:prstGeom>
          <a:noFill/>
          <a:ln/>
        </p:spPr>
        <p:txBody>
          <a:bodyPr wrap="square" lIns="0" tIns="0" rIns="0" bIns="0" rtlCol="0" anchor="ctr"/>
          <a:lstStyle/>
          <a:p>
            <a:pPr indent="0" marL="0">
              <a:buNone/>
            </a:pPr>
            <a:r>
              <a:rPr lang="en-US" sz="1800" b="1" dirty="0">
                <a:solidFill>
                  <a:srgbClr val="C6A15B"/>
                </a:solidFill>
                <a:latin typeface="Aptos Display" pitchFamily="34" charset="0"/>
                <a:ea typeface="Aptos Display" pitchFamily="34" charset="-122"/>
                <a:cs typeface="Aptos Display" pitchFamily="34" charset="-120"/>
              </a:rPr>
              <a:t>EUR 150B</a:t>
            </a:r>
            <a:endParaRPr lang="en-US" sz="1800" dirty="0"/>
          </a:p>
        </p:txBody>
      </p:sp>
      <p:sp>
        <p:nvSpPr>
          <p:cNvPr id="41" name="Text 39"/>
          <p:cNvSpPr/>
          <p:nvPr/>
        </p:nvSpPr>
        <p:spPr>
          <a:xfrm>
            <a:off x="8046720" y="3968496"/>
            <a:ext cx="2697480" cy="219456"/>
          </a:xfrm>
          <a:prstGeom prst="rect">
            <a:avLst/>
          </a:prstGeom>
          <a:noFill/>
          <a:ln/>
        </p:spPr>
        <p:txBody>
          <a:bodyPr wrap="square" lIns="0" tIns="0" rIns="0" bIns="0" rtlCol="0" anchor="ctr">
            <a:normAutofit/>
          </a:bodyPr>
          <a:lstStyle/>
          <a:p>
            <a:pPr indent="0" marL="0">
              <a:buNone/>
            </a:pPr>
            <a:r>
              <a:rPr lang="en-US" sz="810" dirty="0">
                <a:solidFill>
                  <a:srgbClr val="A9B6C7"/>
                </a:solidFill>
              </a:rPr>
              <a:t>SAFE loan instrument for key areas including drones</a:t>
            </a:r>
            <a:endParaRPr lang="en-US" sz="810" dirty="0"/>
          </a:p>
        </p:txBody>
      </p:sp>
      <p:sp>
        <p:nvSpPr>
          <p:cNvPr id="42" name="Shape 40"/>
          <p:cNvSpPr/>
          <p:nvPr/>
        </p:nvSpPr>
        <p:spPr>
          <a:xfrm>
            <a:off x="7754112" y="2011680"/>
            <a:ext cx="0" cy="2359152"/>
          </a:xfrm>
          <a:prstGeom prst="line">
            <a:avLst/>
          </a:prstGeom>
          <a:noFill/>
          <a:ln w="12700">
            <a:solidFill>
              <a:srgbClr val="3A4656"/>
            </a:solidFill>
            <a:prstDash val="solid"/>
          </a:ln>
        </p:spPr>
      </p:sp>
      <p:sp>
        <p:nvSpPr>
          <p:cNvPr id="43" name="Text 41"/>
          <p:cNvSpPr/>
          <p:nvPr/>
        </p:nvSpPr>
        <p:spPr>
          <a:xfrm>
            <a:off x="950976" y="5559552"/>
            <a:ext cx="10012680" cy="320040"/>
          </a:xfrm>
          <a:prstGeom prst="rect">
            <a:avLst/>
          </a:prstGeom>
          <a:noFill/>
          <a:ln/>
        </p:spPr>
        <p:txBody>
          <a:bodyPr wrap="square" lIns="0" tIns="0" rIns="0" bIns="0" rtlCol="0" anchor="ctr">
            <a:normAutofit/>
          </a:bodyPr>
          <a:lstStyle/>
          <a:p>
            <a:pPr indent="0" marL="0">
              <a:buNone/>
            </a:pPr>
            <a:r>
              <a:rPr lang="en-US" sz="1500" b="1" i="1" dirty="0">
                <a:solidFill>
                  <a:srgbClr val="F8FAFC"/>
                </a:solidFill>
                <a:latin typeface="Aptos Display" pitchFamily="34" charset="0"/>
                <a:ea typeface="Aptos Display" pitchFamily="34" charset="-122"/>
                <a:cs typeface="Aptos Display" pitchFamily="34" charset="-120"/>
              </a:rPr>
              <a:t>Kari’s network is valuable because Europe’s security conversation is now becoming a procurement and investment conversation.</a:t>
            </a:r>
            <a:endParaRPr lang="en-US" sz="1500" dirty="0"/>
          </a:p>
        </p:txBody>
      </p:sp>
      <p:sp>
        <p:nvSpPr>
          <p:cNvPr id="44" name="Text 42"/>
          <p:cNvSpPr/>
          <p:nvPr/>
        </p:nvSpPr>
        <p:spPr>
          <a:xfrm>
            <a:off x="685800" y="6062472"/>
            <a:ext cx="4754880" cy="109728"/>
          </a:xfrm>
          <a:prstGeom prst="rect">
            <a:avLst/>
          </a:prstGeom>
          <a:noFill/>
          <a:ln/>
        </p:spPr>
        <p:txBody>
          <a:bodyPr wrap="square" lIns="0" tIns="0" rIns="0" bIns="0" rtlCol="0" anchor="ctr"/>
          <a:lstStyle/>
          <a:p>
            <a:pPr indent="0" marL="0">
              <a:buNone/>
            </a:pPr>
            <a:r>
              <a:rPr lang="en-US" sz="580" dirty="0">
                <a:solidFill>
                  <a:srgbClr val="A9B6C7"/>
                </a:solidFill>
              </a:rPr>
              <a:t>Sources: Council of the EU; European Commission Readiness 2030 / SAFE</a:t>
            </a:r>
            <a:endParaRPr lang="en-US" sz="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42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421"/>
          </a:solidFill>
          <a:ln w="12700">
            <a:solidFill>
              <a:srgbClr val="081421"/>
            </a:solidFill>
            <a:prstDash val="solid"/>
          </a:ln>
        </p:spPr>
      </p:sp>
      <p:sp>
        <p:nvSpPr>
          <p:cNvPr id="3" name="Shape 1"/>
          <p:cNvSpPr/>
          <p:nvPr/>
        </p:nvSpPr>
        <p:spPr>
          <a:xfrm>
            <a:off x="0" y="0"/>
            <a:ext cx="146304" cy="6858000"/>
          </a:xfrm>
          <a:prstGeom prst="rect">
            <a:avLst/>
          </a:prstGeom>
          <a:solidFill>
            <a:srgbClr val="C6A15B"/>
          </a:solidFill>
          <a:ln w="12700">
            <a:solidFill>
              <a:srgbClr val="C6A15B"/>
            </a:solidFill>
            <a:prstDash val="solid"/>
          </a:ln>
        </p:spPr>
      </p:sp>
      <p:sp>
        <p:nvSpPr>
          <p:cNvPr id="4" name="Text 2"/>
          <p:cNvSpPr/>
          <p:nvPr/>
        </p:nvSpPr>
        <p:spPr>
          <a:xfrm>
            <a:off x="411480" y="246888"/>
            <a:ext cx="2926080" cy="201168"/>
          </a:xfrm>
          <a:prstGeom prst="rect">
            <a:avLst/>
          </a:prstGeom>
          <a:noFill/>
          <a:ln/>
        </p:spPr>
        <p:txBody>
          <a:bodyPr wrap="square" lIns="0" tIns="0" rIns="0" bIns="0" rtlCol="0" anchor="ctr"/>
          <a:lstStyle/>
          <a:p>
            <a:pPr indent="0" marL="0">
              <a:buNone/>
            </a:pPr>
            <a:r>
              <a:rPr lang="en-US" sz="750" b="1" dirty="0">
                <a:solidFill>
                  <a:srgbClr val="7EA6C7"/>
                </a:solidFill>
                <a:latin typeface="Aptos" pitchFamily="34" charset="0"/>
                <a:ea typeface="Aptos" pitchFamily="34" charset="-122"/>
                <a:cs typeface="Aptos" pitchFamily="34" charset="-120"/>
              </a:rPr>
              <a:t>DUNLEVY-SPECIFIC VALUE</a:t>
            </a:r>
            <a:endParaRPr lang="en-US" sz="750" dirty="0"/>
          </a:p>
        </p:txBody>
      </p:sp>
      <p:sp>
        <p:nvSpPr>
          <p:cNvPr id="5" name="Text 3"/>
          <p:cNvSpPr/>
          <p:nvPr/>
        </p:nvSpPr>
        <p:spPr>
          <a:xfrm>
            <a:off x="11201400" y="228600"/>
            <a:ext cx="502920" cy="164592"/>
          </a:xfrm>
          <a:prstGeom prst="rect">
            <a:avLst/>
          </a:prstGeom>
          <a:noFill/>
          <a:ln/>
        </p:spPr>
        <p:txBody>
          <a:bodyPr wrap="square" lIns="0" tIns="0" rIns="0" bIns="0" rtlCol="0" anchor="ctr"/>
          <a:lstStyle/>
          <a:p>
            <a:pPr algn="r" indent="0" marL="0">
              <a:buNone/>
            </a:pPr>
            <a:r>
              <a:rPr lang="en-US" sz="750" b="1" dirty="0">
                <a:solidFill>
                  <a:srgbClr val="C6A15B"/>
                </a:solidFill>
              </a:rPr>
              <a:t>03</a:t>
            </a:r>
            <a:endParaRPr lang="en-US" sz="750" dirty="0"/>
          </a:p>
        </p:txBody>
      </p:sp>
      <p:sp>
        <p:nvSpPr>
          <p:cNvPr id="6" name="Shape 4"/>
          <p:cNvSpPr/>
          <p:nvPr/>
        </p:nvSpPr>
        <p:spPr>
          <a:xfrm>
            <a:off x="411480" y="6327648"/>
            <a:ext cx="11201400" cy="0"/>
          </a:xfrm>
          <a:prstGeom prst="line">
            <a:avLst/>
          </a:prstGeom>
          <a:noFill/>
          <a:ln w="8890">
            <a:solidFill>
              <a:srgbClr val="3A4656">
                <a:alpha val="80000"/>
              </a:srgbClr>
            </a:solidFill>
            <a:prstDash val="solid"/>
          </a:ln>
        </p:spPr>
      </p:sp>
      <p:sp>
        <p:nvSpPr>
          <p:cNvPr id="7" name="Text 5"/>
          <p:cNvSpPr/>
          <p:nvPr/>
        </p:nvSpPr>
        <p:spPr>
          <a:xfrm>
            <a:off x="411480" y="6446520"/>
            <a:ext cx="6583680" cy="146304"/>
          </a:xfrm>
          <a:prstGeom prst="rect">
            <a:avLst/>
          </a:prstGeom>
          <a:noFill/>
          <a:ln/>
        </p:spPr>
        <p:txBody>
          <a:bodyPr wrap="square" lIns="0" tIns="0" rIns="0" bIns="0" rtlCol="0" anchor="ctr"/>
          <a:lstStyle/>
          <a:p>
            <a:pPr indent="0" marL="0">
              <a:buNone/>
            </a:pPr>
            <a:r>
              <a:rPr lang="en-US" sz="650" dirty="0">
                <a:solidFill>
                  <a:srgbClr val="A9B6C7"/>
                </a:solidFill>
              </a:rPr>
              <a:t>Sources in speaker notes | Draft for board discussion</a:t>
            </a:r>
            <a:endParaRPr lang="en-US" sz="650" dirty="0"/>
          </a:p>
        </p:txBody>
      </p:sp>
      <p:sp>
        <p:nvSpPr>
          <p:cNvPr id="8" name="Text 6"/>
          <p:cNvSpPr/>
          <p:nvPr/>
        </p:nvSpPr>
        <p:spPr>
          <a:xfrm>
            <a:off x="7452360" y="6446520"/>
            <a:ext cx="4160520" cy="146304"/>
          </a:xfrm>
          <a:prstGeom prst="rect">
            <a:avLst/>
          </a:prstGeom>
          <a:noFill/>
          <a:ln/>
        </p:spPr>
        <p:txBody>
          <a:bodyPr wrap="square" lIns="0" tIns="0" rIns="0" bIns="0" rtlCol="0" anchor="ctr"/>
          <a:lstStyle/>
          <a:p>
            <a:pPr algn="r" indent="0" marL="0">
              <a:buNone/>
            </a:pPr>
            <a:r>
              <a:rPr lang="en-US" sz="650" dirty="0">
                <a:solidFill>
                  <a:srgbClr val="A9B6C7"/>
                </a:solidFill>
              </a:rPr>
              <a:t>Kari Odermann + Dunlevy Aerospace strategic pilot</a:t>
            </a:r>
            <a:endParaRPr lang="en-US" sz="650" dirty="0"/>
          </a:p>
        </p:txBody>
      </p:sp>
      <p:sp>
        <p:nvSpPr>
          <p:cNvPr id="9" name="Text 7"/>
          <p:cNvSpPr/>
          <p:nvPr/>
        </p:nvSpPr>
        <p:spPr>
          <a:xfrm>
            <a:off x="658368" y="685800"/>
            <a:ext cx="10332720" cy="868680"/>
          </a:xfrm>
          <a:prstGeom prst="rect">
            <a:avLst/>
          </a:prstGeom>
          <a:noFill/>
          <a:ln/>
        </p:spPr>
        <p:txBody>
          <a:bodyPr wrap="square" lIns="0" tIns="0" rIns="0" bIns="0" rtlCol="0" anchor="ctr">
            <a:normAutofit/>
          </a:bodyPr>
          <a:lstStyle/>
          <a:p>
            <a:pPr indent="0" marL="0">
              <a:buNone/>
            </a:pPr>
            <a:r>
              <a:rPr lang="en-US" sz="2500" b="1" dirty="0">
                <a:solidFill>
                  <a:srgbClr val="F8FAFC"/>
                </a:solidFill>
                <a:latin typeface="Aptos Display" pitchFamily="34" charset="0"/>
                <a:ea typeface="Aptos Display" pitchFamily="34" charset="-122"/>
                <a:cs typeface="Aptos Display" pitchFamily="34" charset="-120"/>
              </a:rPr>
              <a:t>A focused intermediary can open international pathways without distracting the core team</a:t>
            </a:r>
            <a:endParaRPr lang="en-US" sz="2500" dirty="0"/>
          </a:p>
        </p:txBody>
      </p:sp>
      <p:sp>
        <p:nvSpPr>
          <p:cNvPr id="10" name="Shape 8"/>
          <p:cNvSpPr/>
          <p:nvPr/>
        </p:nvSpPr>
        <p:spPr>
          <a:xfrm>
            <a:off x="804672" y="2057400"/>
            <a:ext cx="2542032" cy="1188720"/>
          </a:xfrm>
          <a:prstGeom prst="chevron">
            <a:avLst/>
          </a:prstGeom>
          <a:solidFill>
            <a:srgbClr val="101C2A">
              <a:alpha val="94000"/>
            </a:srgbClr>
          </a:solidFill>
          <a:ln w="10160">
            <a:solidFill>
              <a:srgbClr val="3A4656"/>
            </a:solidFill>
            <a:prstDash val="solid"/>
          </a:ln>
        </p:spPr>
      </p:sp>
      <p:sp>
        <p:nvSpPr>
          <p:cNvPr id="11" name="Text 9"/>
          <p:cNvSpPr/>
          <p:nvPr/>
        </p:nvSpPr>
        <p:spPr>
          <a:xfrm>
            <a:off x="1033272" y="2313432"/>
            <a:ext cx="1645920" cy="310896"/>
          </a:xfrm>
          <a:prstGeom prst="rect">
            <a:avLst/>
          </a:prstGeom>
          <a:noFill/>
          <a:ln/>
        </p:spPr>
        <p:txBody>
          <a:bodyPr wrap="square" lIns="0" tIns="0" rIns="0" bIns="0" rtlCol="0" anchor="ctr">
            <a:normAutofit/>
          </a:bodyPr>
          <a:lstStyle/>
          <a:p>
            <a:pPr indent="0" marL="0">
              <a:buNone/>
            </a:pPr>
            <a:r>
              <a:rPr lang="en-US" sz="1320" b="1" dirty="0">
                <a:solidFill>
                  <a:srgbClr val="F8FAFC"/>
                </a:solidFill>
              </a:rPr>
              <a:t>European</a:t>
            </a:r>
            <a:endParaRPr lang="en-US" sz="1320" dirty="0"/>
          </a:p>
          <a:p>
            <a:pPr indent="0" marL="0">
              <a:buNone/>
            </a:pPr>
            <a:r>
              <a:rPr lang="en-US" sz="1320" b="1" dirty="0">
                <a:solidFill>
                  <a:srgbClr val="F8FAFC"/>
                </a:solidFill>
              </a:rPr>
              <a:t>security demand</a:t>
            </a:r>
            <a:endParaRPr lang="en-US" sz="1320" dirty="0"/>
          </a:p>
        </p:txBody>
      </p:sp>
      <p:sp>
        <p:nvSpPr>
          <p:cNvPr id="12" name="Text 10"/>
          <p:cNvSpPr/>
          <p:nvPr/>
        </p:nvSpPr>
        <p:spPr>
          <a:xfrm>
            <a:off x="1033272" y="2788920"/>
            <a:ext cx="1691640" cy="274320"/>
          </a:xfrm>
          <a:prstGeom prst="rect">
            <a:avLst/>
          </a:prstGeom>
          <a:noFill/>
          <a:ln/>
        </p:spPr>
        <p:txBody>
          <a:bodyPr wrap="square" lIns="0" tIns="0" rIns="0" bIns="0" rtlCol="0" anchor="ctr">
            <a:normAutofit/>
          </a:bodyPr>
          <a:lstStyle/>
          <a:p>
            <a:pPr indent="0" marL="0">
              <a:buNone/>
            </a:pPr>
            <a:r>
              <a:rPr lang="en-US" sz="740" dirty="0">
                <a:solidFill>
                  <a:srgbClr val="A9B6C7"/>
                </a:solidFill>
              </a:rPr>
              <a:t>spending, urgency,</a:t>
            </a:r>
            <a:endParaRPr lang="en-US" sz="740" dirty="0"/>
          </a:p>
          <a:p>
            <a:pPr indent="0" marL="0">
              <a:buNone/>
            </a:pPr>
            <a:r>
              <a:rPr lang="en-US" sz="740" dirty="0">
                <a:solidFill>
                  <a:srgbClr val="A9B6C7"/>
                </a:solidFill>
              </a:rPr>
              <a:t>dual-use needs</a:t>
            </a:r>
            <a:endParaRPr lang="en-US" sz="740" dirty="0"/>
          </a:p>
        </p:txBody>
      </p:sp>
      <p:sp>
        <p:nvSpPr>
          <p:cNvPr id="13" name="Shape 11"/>
          <p:cNvSpPr/>
          <p:nvPr/>
        </p:nvSpPr>
        <p:spPr>
          <a:xfrm>
            <a:off x="3547872" y="2057400"/>
            <a:ext cx="2542032" cy="1188720"/>
          </a:xfrm>
          <a:prstGeom prst="chevron">
            <a:avLst/>
          </a:prstGeom>
          <a:solidFill>
            <a:srgbClr val="101C2A">
              <a:alpha val="94000"/>
            </a:srgbClr>
          </a:solidFill>
          <a:ln w="10160">
            <a:solidFill>
              <a:srgbClr val="3A4656"/>
            </a:solidFill>
            <a:prstDash val="solid"/>
          </a:ln>
        </p:spPr>
      </p:sp>
      <p:sp>
        <p:nvSpPr>
          <p:cNvPr id="14" name="Text 12"/>
          <p:cNvSpPr/>
          <p:nvPr/>
        </p:nvSpPr>
        <p:spPr>
          <a:xfrm>
            <a:off x="3776472" y="2313432"/>
            <a:ext cx="1645920" cy="310896"/>
          </a:xfrm>
          <a:prstGeom prst="rect">
            <a:avLst/>
          </a:prstGeom>
          <a:noFill/>
          <a:ln/>
        </p:spPr>
        <p:txBody>
          <a:bodyPr wrap="square" lIns="0" tIns="0" rIns="0" bIns="0" rtlCol="0" anchor="ctr">
            <a:normAutofit/>
          </a:bodyPr>
          <a:lstStyle/>
          <a:p>
            <a:pPr indent="0" marL="0">
              <a:buNone/>
            </a:pPr>
            <a:r>
              <a:rPr lang="en-US" sz="1320" b="1" dirty="0">
                <a:solidFill>
                  <a:srgbClr val="F8FAFC"/>
                </a:solidFill>
              </a:rPr>
              <a:t>Qualified investor /</a:t>
            </a:r>
            <a:endParaRPr lang="en-US" sz="1320" dirty="0"/>
          </a:p>
          <a:p>
            <a:pPr indent="0" marL="0">
              <a:buNone/>
            </a:pPr>
            <a:r>
              <a:rPr lang="en-US" sz="1320" b="1" dirty="0">
                <a:solidFill>
                  <a:srgbClr val="F8FAFC"/>
                </a:solidFill>
              </a:rPr>
              <a:t>partner targets</a:t>
            </a:r>
            <a:endParaRPr lang="en-US" sz="1320" dirty="0"/>
          </a:p>
        </p:txBody>
      </p:sp>
      <p:sp>
        <p:nvSpPr>
          <p:cNvPr id="15" name="Text 13"/>
          <p:cNvSpPr/>
          <p:nvPr/>
        </p:nvSpPr>
        <p:spPr>
          <a:xfrm>
            <a:off x="3776472" y="2788920"/>
            <a:ext cx="1691640" cy="274320"/>
          </a:xfrm>
          <a:prstGeom prst="rect">
            <a:avLst/>
          </a:prstGeom>
          <a:noFill/>
          <a:ln/>
        </p:spPr>
        <p:txBody>
          <a:bodyPr wrap="square" lIns="0" tIns="0" rIns="0" bIns="0" rtlCol="0" anchor="ctr">
            <a:normAutofit/>
          </a:bodyPr>
          <a:lstStyle/>
          <a:p>
            <a:pPr indent="0" marL="0">
              <a:buNone/>
            </a:pPr>
            <a:r>
              <a:rPr lang="en-US" sz="740" dirty="0">
                <a:solidFill>
                  <a:srgbClr val="A9B6C7"/>
                </a:solidFill>
              </a:rPr>
              <a:t>fit, seriousness,</a:t>
            </a:r>
            <a:endParaRPr lang="en-US" sz="740" dirty="0"/>
          </a:p>
          <a:p>
            <a:pPr indent="0" marL="0">
              <a:buNone/>
            </a:pPr>
            <a:r>
              <a:rPr lang="en-US" sz="740" dirty="0">
                <a:solidFill>
                  <a:srgbClr val="A9B6C7"/>
                </a:solidFill>
              </a:rPr>
              <a:t>strategic relevance</a:t>
            </a:r>
            <a:endParaRPr lang="en-US" sz="740" dirty="0"/>
          </a:p>
        </p:txBody>
      </p:sp>
      <p:sp>
        <p:nvSpPr>
          <p:cNvPr id="16" name="Shape 14"/>
          <p:cNvSpPr/>
          <p:nvPr/>
        </p:nvSpPr>
        <p:spPr>
          <a:xfrm>
            <a:off x="6291072" y="2057400"/>
            <a:ext cx="2542032" cy="1188720"/>
          </a:xfrm>
          <a:prstGeom prst="chevron">
            <a:avLst/>
          </a:prstGeom>
          <a:solidFill>
            <a:srgbClr val="172535">
              <a:alpha val="94000"/>
            </a:srgbClr>
          </a:solidFill>
          <a:ln w="10160">
            <a:solidFill>
              <a:srgbClr val="3A4656"/>
            </a:solidFill>
            <a:prstDash val="solid"/>
          </a:ln>
        </p:spPr>
      </p:sp>
      <p:sp>
        <p:nvSpPr>
          <p:cNvPr id="17" name="Text 15"/>
          <p:cNvSpPr/>
          <p:nvPr/>
        </p:nvSpPr>
        <p:spPr>
          <a:xfrm>
            <a:off x="6519672" y="2313432"/>
            <a:ext cx="1645920" cy="310896"/>
          </a:xfrm>
          <a:prstGeom prst="rect">
            <a:avLst/>
          </a:prstGeom>
          <a:noFill/>
          <a:ln/>
        </p:spPr>
        <p:txBody>
          <a:bodyPr wrap="square" lIns="0" tIns="0" rIns="0" bIns="0" rtlCol="0" anchor="ctr">
            <a:normAutofit/>
          </a:bodyPr>
          <a:lstStyle/>
          <a:p>
            <a:pPr indent="0" marL="0">
              <a:buNone/>
            </a:pPr>
            <a:r>
              <a:rPr lang="en-US" sz="1320" b="1" dirty="0">
                <a:solidFill>
                  <a:srgbClr val="F8FAFC"/>
                </a:solidFill>
              </a:rPr>
              <a:t>Compliance /</a:t>
            </a:r>
            <a:endParaRPr lang="en-US" sz="1320" dirty="0"/>
          </a:p>
          <a:p>
            <a:pPr indent="0" marL="0">
              <a:buNone/>
            </a:pPr>
            <a:r>
              <a:rPr lang="en-US" sz="1320" b="1" dirty="0">
                <a:solidFill>
                  <a:srgbClr val="F8FAFC"/>
                </a:solidFill>
              </a:rPr>
              <a:t>risk screen</a:t>
            </a:r>
            <a:endParaRPr lang="en-US" sz="1320" dirty="0"/>
          </a:p>
        </p:txBody>
      </p:sp>
      <p:sp>
        <p:nvSpPr>
          <p:cNvPr id="18" name="Text 16"/>
          <p:cNvSpPr/>
          <p:nvPr/>
        </p:nvSpPr>
        <p:spPr>
          <a:xfrm>
            <a:off x="6519672" y="2788920"/>
            <a:ext cx="1691640" cy="274320"/>
          </a:xfrm>
          <a:prstGeom prst="rect">
            <a:avLst/>
          </a:prstGeom>
          <a:noFill/>
          <a:ln/>
        </p:spPr>
        <p:txBody>
          <a:bodyPr wrap="square" lIns="0" tIns="0" rIns="0" bIns="0" rtlCol="0" anchor="ctr">
            <a:normAutofit/>
          </a:bodyPr>
          <a:lstStyle/>
          <a:p>
            <a:pPr indent="0" marL="0">
              <a:buNone/>
            </a:pPr>
            <a:r>
              <a:rPr lang="en-US" sz="740" dirty="0">
                <a:solidFill>
                  <a:srgbClr val="A9B6C7"/>
                </a:solidFill>
              </a:rPr>
              <a:t>export control,</a:t>
            </a:r>
            <a:endParaRPr lang="en-US" sz="740" dirty="0"/>
          </a:p>
          <a:p>
            <a:pPr indent="0" marL="0">
              <a:buNone/>
            </a:pPr>
            <a:r>
              <a:rPr lang="en-US" sz="740" dirty="0">
                <a:solidFill>
                  <a:srgbClr val="A9B6C7"/>
                </a:solidFill>
              </a:rPr>
              <a:t>legal review, board gates</a:t>
            </a:r>
            <a:endParaRPr lang="en-US" sz="740" dirty="0"/>
          </a:p>
        </p:txBody>
      </p:sp>
      <p:sp>
        <p:nvSpPr>
          <p:cNvPr id="19" name="Shape 17"/>
          <p:cNvSpPr/>
          <p:nvPr/>
        </p:nvSpPr>
        <p:spPr>
          <a:xfrm>
            <a:off x="9034272" y="2057400"/>
            <a:ext cx="2542032" cy="1188720"/>
          </a:xfrm>
          <a:prstGeom prst="chevron">
            <a:avLst/>
          </a:prstGeom>
          <a:solidFill>
            <a:srgbClr val="C6A15B"/>
          </a:solidFill>
          <a:ln w="10160">
            <a:solidFill>
              <a:srgbClr val="C6A15B"/>
            </a:solidFill>
            <a:prstDash val="solid"/>
          </a:ln>
        </p:spPr>
      </p:sp>
      <p:sp>
        <p:nvSpPr>
          <p:cNvPr id="20" name="Text 18"/>
          <p:cNvSpPr/>
          <p:nvPr/>
        </p:nvSpPr>
        <p:spPr>
          <a:xfrm>
            <a:off x="9262872" y="2313432"/>
            <a:ext cx="1645920" cy="310896"/>
          </a:xfrm>
          <a:prstGeom prst="rect">
            <a:avLst/>
          </a:prstGeom>
          <a:noFill/>
          <a:ln/>
        </p:spPr>
        <p:txBody>
          <a:bodyPr wrap="square" lIns="0" tIns="0" rIns="0" bIns="0" rtlCol="0" anchor="ctr">
            <a:normAutofit/>
          </a:bodyPr>
          <a:lstStyle/>
          <a:p>
            <a:pPr indent="0" marL="0">
              <a:buNone/>
            </a:pPr>
            <a:r>
              <a:rPr lang="en-US" sz="1320" b="1" dirty="0">
                <a:solidFill>
                  <a:srgbClr val="F8FAFC"/>
                </a:solidFill>
              </a:rPr>
              <a:t>Board-ready</a:t>
            </a:r>
            <a:endParaRPr lang="en-US" sz="1320" dirty="0"/>
          </a:p>
          <a:p>
            <a:pPr indent="0" marL="0">
              <a:buNone/>
            </a:pPr>
            <a:r>
              <a:rPr lang="en-US" sz="1320" b="1" dirty="0">
                <a:solidFill>
                  <a:srgbClr val="F8FAFC"/>
                </a:solidFill>
              </a:rPr>
              <a:t>opportunities</a:t>
            </a:r>
            <a:endParaRPr lang="en-US" sz="1320" dirty="0"/>
          </a:p>
        </p:txBody>
      </p:sp>
      <p:sp>
        <p:nvSpPr>
          <p:cNvPr id="21" name="Text 19"/>
          <p:cNvSpPr/>
          <p:nvPr/>
        </p:nvSpPr>
        <p:spPr>
          <a:xfrm>
            <a:off x="9262872" y="2788920"/>
            <a:ext cx="1691640" cy="274320"/>
          </a:xfrm>
          <a:prstGeom prst="rect">
            <a:avLst/>
          </a:prstGeom>
          <a:noFill/>
          <a:ln/>
        </p:spPr>
        <p:txBody>
          <a:bodyPr wrap="square" lIns="0" tIns="0" rIns="0" bIns="0" rtlCol="0" anchor="ctr">
            <a:normAutofit/>
          </a:bodyPr>
          <a:lstStyle/>
          <a:p>
            <a:pPr indent="0" marL="0">
              <a:buNone/>
            </a:pPr>
            <a:r>
              <a:rPr lang="en-US" sz="740" dirty="0">
                <a:solidFill>
                  <a:srgbClr val="081421"/>
                </a:solidFill>
              </a:rPr>
              <a:t>clear next step,</a:t>
            </a:r>
            <a:endParaRPr lang="en-US" sz="740" dirty="0"/>
          </a:p>
          <a:p>
            <a:pPr indent="0" marL="0">
              <a:buNone/>
            </a:pPr>
            <a:r>
              <a:rPr lang="en-US" sz="740" dirty="0">
                <a:solidFill>
                  <a:srgbClr val="081421"/>
                </a:solidFill>
              </a:rPr>
              <a:t>go / no-go evidence</a:t>
            </a:r>
            <a:endParaRPr lang="en-US" sz="740" dirty="0"/>
          </a:p>
        </p:txBody>
      </p:sp>
      <p:sp>
        <p:nvSpPr>
          <p:cNvPr id="22" name="Shape 20"/>
          <p:cNvSpPr/>
          <p:nvPr/>
        </p:nvSpPr>
        <p:spPr>
          <a:xfrm>
            <a:off x="777240" y="4050792"/>
            <a:ext cx="3063240" cy="960120"/>
          </a:xfrm>
          <a:prstGeom prst="rect">
            <a:avLst/>
          </a:prstGeom>
          <a:solidFill>
            <a:srgbClr val="172535"/>
          </a:solidFill>
          <a:ln w="10160">
            <a:solidFill>
              <a:srgbClr val="5E8FB8">
                <a:alpha val="70000"/>
              </a:srgbClr>
            </a:solidFill>
            <a:prstDash val="solid"/>
          </a:ln>
        </p:spPr>
      </p:sp>
      <p:sp>
        <p:nvSpPr>
          <p:cNvPr id="23" name="Text 21"/>
          <p:cNvSpPr/>
          <p:nvPr/>
        </p:nvSpPr>
        <p:spPr>
          <a:xfrm>
            <a:off x="978408" y="4261104"/>
            <a:ext cx="2103120" cy="164592"/>
          </a:xfrm>
          <a:prstGeom prst="rect">
            <a:avLst/>
          </a:prstGeom>
          <a:noFill/>
          <a:ln/>
        </p:spPr>
        <p:txBody>
          <a:bodyPr wrap="square" lIns="0" tIns="0" rIns="0" bIns="0" rtlCol="0" anchor="ctr"/>
          <a:lstStyle/>
          <a:p>
            <a:pPr indent="0" marL="0">
              <a:buNone/>
            </a:pPr>
            <a:r>
              <a:rPr lang="en-US" sz="1060" b="1" dirty="0">
                <a:solidFill>
                  <a:srgbClr val="F8FAFC"/>
                </a:solidFill>
              </a:rPr>
              <a:t>Dunlevy Aerospace proof points</a:t>
            </a:r>
            <a:endParaRPr lang="en-US" sz="1060" dirty="0"/>
          </a:p>
        </p:txBody>
      </p:sp>
      <p:sp>
        <p:nvSpPr>
          <p:cNvPr id="24" name="Text 22"/>
          <p:cNvSpPr/>
          <p:nvPr/>
        </p:nvSpPr>
        <p:spPr>
          <a:xfrm>
            <a:off x="978408" y="4526280"/>
            <a:ext cx="2606040" cy="246888"/>
          </a:xfrm>
          <a:prstGeom prst="rect">
            <a:avLst/>
          </a:prstGeom>
          <a:noFill/>
          <a:ln/>
        </p:spPr>
        <p:txBody>
          <a:bodyPr wrap="square" lIns="0" tIns="0" rIns="0" bIns="0" rtlCol="0" anchor="ctr">
            <a:normAutofit/>
          </a:bodyPr>
          <a:lstStyle/>
          <a:p>
            <a:pPr indent="0" marL="0">
              <a:buNone/>
            </a:pPr>
            <a:r>
              <a:rPr lang="en-US" sz="760" dirty="0">
                <a:solidFill>
                  <a:srgbClr val="A9B6C7"/>
                </a:solidFill>
              </a:rPr>
              <a:t>10+ years in UAS; 250,000+ missions overseen; airframes, curricula, consulting, and international industry experience.</a:t>
            </a:r>
            <a:endParaRPr lang="en-US" sz="760" dirty="0"/>
          </a:p>
        </p:txBody>
      </p:sp>
      <p:sp>
        <p:nvSpPr>
          <p:cNvPr id="25" name="Shape 23"/>
          <p:cNvSpPr/>
          <p:nvPr/>
        </p:nvSpPr>
        <p:spPr>
          <a:xfrm>
            <a:off x="4370832" y="4105656"/>
            <a:ext cx="91440" cy="91440"/>
          </a:xfrm>
          <a:prstGeom prst="ellipse">
            <a:avLst/>
          </a:prstGeom>
          <a:solidFill>
            <a:srgbClr val="C6A15B"/>
          </a:solidFill>
          <a:ln w="12700">
            <a:solidFill>
              <a:srgbClr val="C6A15B"/>
            </a:solidFill>
            <a:prstDash val="solid"/>
          </a:ln>
        </p:spPr>
      </p:sp>
      <p:sp>
        <p:nvSpPr>
          <p:cNvPr id="26" name="Text 24"/>
          <p:cNvSpPr/>
          <p:nvPr/>
        </p:nvSpPr>
        <p:spPr>
          <a:xfrm>
            <a:off x="4590288" y="4050792"/>
            <a:ext cx="6172200" cy="201168"/>
          </a:xfrm>
          <a:prstGeom prst="rect">
            <a:avLst/>
          </a:prstGeom>
          <a:noFill/>
          <a:ln/>
        </p:spPr>
        <p:txBody>
          <a:bodyPr wrap="square" lIns="0" tIns="0" rIns="0" bIns="0" rtlCol="0" anchor="ctr">
            <a:normAutofit/>
          </a:bodyPr>
          <a:lstStyle/>
          <a:p>
            <a:pPr indent="0" marL="0">
              <a:buNone/>
            </a:pPr>
            <a:r>
              <a:rPr lang="en-US" sz="940" dirty="0">
                <a:solidFill>
                  <a:srgbClr val="DDE6EF"/>
                </a:solidFill>
              </a:rPr>
              <a:t>Explore investors, strategic partners, joint ventures, licensing, training, components, and dual-use applications.</a:t>
            </a:r>
            <a:endParaRPr lang="en-US" sz="940" dirty="0"/>
          </a:p>
        </p:txBody>
      </p:sp>
      <p:sp>
        <p:nvSpPr>
          <p:cNvPr id="27" name="Shape 25"/>
          <p:cNvSpPr/>
          <p:nvPr/>
        </p:nvSpPr>
        <p:spPr>
          <a:xfrm>
            <a:off x="4370832" y="4462272"/>
            <a:ext cx="91440" cy="91440"/>
          </a:xfrm>
          <a:prstGeom prst="ellipse">
            <a:avLst/>
          </a:prstGeom>
          <a:solidFill>
            <a:srgbClr val="C6A15B"/>
          </a:solidFill>
          <a:ln w="12700">
            <a:solidFill>
              <a:srgbClr val="C6A15B"/>
            </a:solidFill>
            <a:prstDash val="solid"/>
          </a:ln>
        </p:spPr>
      </p:sp>
      <p:sp>
        <p:nvSpPr>
          <p:cNvPr id="28" name="Text 26"/>
          <p:cNvSpPr/>
          <p:nvPr/>
        </p:nvSpPr>
        <p:spPr>
          <a:xfrm>
            <a:off x="4590288" y="4407408"/>
            <a:ext cx="6172200" cy="201168"/>
          </a:xfrm>
          <a:prstGeom prst="rect">
            <a:avLst/>
          </a:prstGeom>
          <a:noFill/>
          <a:ln/>
        </p:spPr>
        <p:txBody>
          <a:bodyPr wrap="square" lIns="0" tIns="0" rIns="0" bIns="0" rtlCol="0" anchor="ctr">
            <a:normAutofit/>
          </a:bodyPr>
          <a:lstStyle/>
          <a:p>
            <a:pPr indent="0" marL="0">
              <a:buNone/>
            </a:pPr>
            <a:r>
              <a:rPr lang="en-US" sz="940" dirty="0">
                <a:solidFill>
                  <a:srgbClr val="DDE6EF"/>
                </a:solidFill>
              </a:rPr>
              <a:t>Reduce discovery cost by filtering weak leads before Matt invests senior time.</a:t>
            </a:r>
            <a:endParaRPr lang="en-US" sz="940" dirty="0"/>
          </a:p>
        </p:txBody>
      </p:sp>
      <p:sp>
        <p:nvSpPr>
          <p:cNvPr id="29" name="Shape 27"/>
          <p:cNvSpPr/>
          <p:nvPr/>
        </p:nvSpPr>
        <p:spPr>
          <a:xfrm>
            <a:off x="4370832" y="4818888"/>
            <a:ext cx="91440" cy="91440"/>
          </a:xfrm>
          <a:prstGeom prst="ellipse">
            <a:avLst/>
          </a:prstGeom>
          <a:solidFill>
            <a:srgbClr val="C6A15B"/>
          </a:solidFill>
          <a:ln w="12700">
            <a:solidFill>
              <a:srgbClr val="C6A15B"/>
            </a:solidFill>
            <a:prstDash val="solid"/>
          </a:ln>
        </p:spPr>
      </p:sp>
      <p:sp>
        <p:nvSpPr>
          <p:cNvPr id="30" name="Text 28"/>
          <p:cNvSpPr/>
          <p:nvPr/>
        </p:nvSpPr>
        <p:spPr>
          <a:xfrm>
            <a:off x="4590288" y="4764024"/>
            <a:ext cx="6172200" cy="201168"/>
          </a:xfrm>
          <a:prstGeom prst="rect">
            <a:avLst/>
          </a:prstGeom>
          <a:noFill/>
          <a:ln/>
        </p:spPr>
        <p:txBody>
          <a:bodyPr wrap="square" lIns="0" tIns="0" rIns="0" bIns="0" rtlCol="0" anchor="ctr">
            <a:normAutofit/>
          </a:bodyPr>
          <a:lstStyle/>
          <a:p>
            <a:pPr indent="0" marL="0">
              <a:buNone/>
            </a:pPr>
            <a:r>
              <a:rPr lang="en-US" sz="940" dirty="0">
                <a:solidFill>
                  <a:srgbClr val="DDE6EF"/>
                </a:solidFill>
              </a:rPr>
              <a:t>Position Kari as market-development and strategic qualification, not sales ownership.</a:t>
            </a:r>
            <a:endParaRPr lang="en-US" sz="940" dirty="0"/>
          </a:p>
        </p:txBody>
      </p:sp>
      <p:sp>
        <p:nvSpPr>
          <p:cNvPr id="31" name="Text 29"/>
          <p:cNvSpPr/>
          <p:nvPr/>
        </p:nvSpPr>
        <p:spPr>
          <a:xfrm>
            <a:off x="4590288" y="5212080"/>
            <a:ext cx="5943600" cy="210312"/>
          </a:xfrm>
          <a:prstGeom prst="rect">
            <a:avLst/>
          </a:prstGeom>
          <a:noFill/>
          <a:ln/>
        </p:spPr>
        <p:txBody>
          <a:bodyPr wrap="square" lIns="0" tIns="0" rIns="0" bIns="0" rtlCol="0" anchor="ctr">
            <a:normAutofit/>
          </a:bodyPr>
          <a:lstStyle/>
          <a:p>
            <a:pPr indent="0" marL="0">
              <a:buNone/>
            </a:pPr>
            <a:r>
              <a:rPr lang="en-US" sz="860" b="1" dirty="0">
                <a:solidFill>
                  <a:srgbClr val="C6A15B"/>
                </a:solidFill>
              </a:rPr>
              <a:t>Subject to export-control and compliance review; no technical transfer or binding commitment without legal and board approval.</a:t>
            </a:r>
            <a:endParaRPr lang="en-US" sz="860" dirty="0"/>
          </a:p>
        </p:txBody>
      </p:sp>
      <p:sp>
        <p:nvSpPr>
          <p:cNvPr id="32" name="Text 30"/>
          <p:cNvSpPr/>
          <p:nvPr/>
        </p:nvSpPr>
        <p:spPr>
          <a:xfrm>
            <a:off x="804672" y="5559552"/>
            <a:ext cx="10195560" cy="320040"/>
          </a:xfrm>
          <a:prstGeom prst="rect">
            <a:avLst/>
          </a:prstGeom>
          <a:noFill/>
          <a:ln/>
        </p:spPr>
        <p:txBody>
          <a:bodyPr wrap="square" lIns="0" tIns="0" rIns="0" bIns="0" rtlCol="0" anchor="ctr">
            <a:normAutofit/>
          </a:bodyPr>
          <a:lstStyle/>
          <a:p>
            <a:pPr indent="0" marL="0">
              <a:buNone/>
            </a:pPr>
            <a:r>
              <a:rPr lang="en-US" sz="1470" b="1" i="1" dirty="0">
                <a:solidFill>
                  <a:srgbClr val="F8FAFC"/>
                </a:solidFill>
                <a:latin typeface="Aptos Display" pitchFamily="34" charset="0"/>
                <a:ea typeface="Aptos Display" pitchFamily="34" charset="-122"/>
                <a:cs typeface="Aptos Display" pitchFamily="34" charset="-120"/>
              </a:rPr>
              <a:t>Kari can help Dunlevy Aerospace find the right international doors before the company commits serious time, capital, or operational bandwidth.</a:t>
            </a:r>
            <a:endParaRPr lang="en-US" sz="1470" dirty="0"/>
          </a:p>
        </p:txBody>
      </p:sp>
      <p:sp>
        <p:nvSpPr>
          <p:cNvPr id="33" name="Text 31"/>
          <p:cNvSpPr/>
          <p:nvPr/>
        </p:nvSpPr>
        <p:spPr>
          <a:xfrm>
            <a:off x="685800" y="6062472"/>
            <a:ext cx="6400800" cy="109728"/>
          </a:xfrm>
          <a:prstGeom prst="rect">
            <a:avLst/>
          </a:prstGeom>
          <a:noFill/>
          <a:ln/>
        </p:spPr>
        <p:txBody>
          <a:bodyPr wrap="square" lIns="0" tIns="0" rIns="0" bIns="0" rtlCol="0" anchor="ctr"/>
          <a:lstStyle/>
          <a:p>
            <a:pPr indent="0" marL="0">
              <a:buNone/>
            </a:pPr>
            <a:r>
              <a:rPr lang="en-US" sz="580" dirty="0">
                <a:solidFill>
                  <a:srgbClr val="A9B6C7"/>
                </a:solidFill>
              </a:rPr>
              <a:t>Sources: Dunlevy Aerospace; Northland Community &amp; Technical College; Council of the EU; European Commission</a:t>
            </a:r>
            <a:endParaRPr lang="en-US" sz="5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42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81421"/>
          </a:solidFill>
          <a:ln w="12700">
            <a:solidFill>
              <a:srgbClr val="081421"/>
            </a:solidFill>
            <a:prstDash val="solid"/>
          </a:ln>
        </p:spPr>
      </p:sp>
      <p:sp>
        <p:nvSpPr>
          <p:cNvPr id="3" name="Shape 1"/>
          <p:cNvSpPr/>
          <p:nvPr/>
        </p:nvSpPr>
        <p:spPr>
          <a:xfrm>
            <a:off x="0" y="0"/>
            <a:ext cx="146304" cy="6858000"/>
          </a:xfrm>
          <a:prstGeom prst="rect">
            <a:avLst/>
          </a:prstGeom>
          <a:solidFill>
            <a:srgbClr val="C6A15B"/>
          </a:solidFill>
          <a:ln w="12700">
            <a:solidFill>
              <a:srgbClr val="C6A15B"/>
            </a:solidFill>
            <a:prstDash val="solid"/>
          </a:ln>
        </p:spPr>
      </p:sp>
      <p:sp>
        <p:nvSpPr>
          <p:cNvPr id="4" name="Text 2"/>
          <p:cNvSpPr/>
          <p:nvPr/>
        </p:nvSpPr>
        <p:spPr>
          <a:xfrm>
            <a:off x="411480" y="246888"/>
            <a:ext cx="2926080" cy="201168"/>
          </a:xfrm>
          <a:prstGeom prst="rect">
            <a:avLst/>
          </a:prstGeom>
          <a:noFill/>
          <a:ln/>
        </p:spPr>
        <p:txBody>
          <a:bodyPr wrap="square" lIns="0" tIns="0" rIns="0" bIns="0" rtlCol="0" anchor="ctr"/>
          <a:lstStyle/>
          <a:p>
            <a:pPr indent="0" marL="0">
              <a:buNone/>
            </a:pPr>
            <a:r>
              <a:rPr lang="en-US" sz="750" b="1" dirty="0">
                <a:solidFill>
                  <a:srgbClr val="7EA6C7"/>
                </a:solidFill>
                <a:latin typeface="Aptos" pitchFamily="34" charset="0"/>
                <a:ea typeface="Aptos" pitchFamily="34" charset="-122"/>
                <a:cs typeface="Aptos" pitchFamily="34" charset="-120"/>
              </a:rPr>
              <a:t>GOVERNED PILOT</a:t>
            </a:r>
            <a:endParaRPr lang="en-US" sz="750" dirty="0"/>
          </a:p>
        </p:txBody>
      </p:sp>
      <p:sp>
        <p:nvSpPr>
          <p:cNvPr id="5" name="Text 3"/>
          <p:cNvSpPr/>
          <p:nvPr/>
        </p:nvSpPr>
        <p:spPr>
          <a:xfrm>
            <a:off x="11201400" y="228600"/>
            <a:ext cx="502920" cy="164592"/>
          </a:xfrm>
          <a:prstGeom prst="rect">
            <a:avLst/>
          </a:prstGeom>
          <a:noFill/>
          <a:ln/>
        </p:spPr>
        <p:txBody>
          <a:bodyPr wrap="square" lIns="0" tIns="0" rIns="0" bIns="0" rtlCol="0" anchor="ctr"/>
          <a:lstStyle/>
          <a:p>
            <a:pPr algn="r" indent="0" marL="0">
              <a:buNone/>
            </a:pPr>
            <a:r>
              <a:rPr lang="en-US" sz="750" b="1" dirty="0">
                <a:solidFill>
                  <a:srgbClr val="C6A15B"/>
                </a:solidFill>
              </a:rPr>
              <a:t>04</a:t>
            </a:r>
            <a:endParaRPr lang="en-US" sz="750" dirty="0"/>
          </a:p>
        </p:txBody>
      </p:sp>
      <p:sp>
        <p:nvSpPr>
          <p:cNvPr id="6" name="Shape 4"/>
          <p:cNvSpPr/>
          <p:nvPr/>
        </p:nvSpPr>
        <p:spPr>
          <a:xfrm>
            <a:off x="411480" y="6327648"/>
            <a:ext cx="11201400" cy="0"/>
          </a:xfrm>
          <a:prstGeom prst="line">
            <a:avLst/>
          </a:prstGeom>
          <a:noFill/>
          <a:ln w="8890">
            <a:solidFill>
              <a:srgbClr val="3A4656">
                <a:alpha val="80000"/>
              </a:srgbClr>
            </a:solidFill>
            <a:prstDash val="solid"/>
          </a:ln>
        </p:spPr>
      </p:sp>
      <p:sp>
        <p:nvSpPr>
          <p:cNvPr id="7" name="Text 5"/>
          <p:cNvSpPr/>
          <p:nvPr/>
        </p:nvSpPr>
        <p:spPr>
          <a:xfrm>
            <a:off x="411480" y="6446520"/>
            <a:ext cx="6583680" cy="146304"/>
          </a:xfrm>
          <a:prstGeom prst="rect">
            <a:avLst/>
          </a:prstGeom>
          <a:noFill/>
          <a:ln/>
        </p:spPr>
        <p:txBody>
          <a:bodyPr wrap="square" lIns="0" tIns="0" rIns="0" bIns="0" rtlCol="0" anchor="ctr"/>
          <a:lstStyle/>
          <a:p>
            <a:pPr indent="0" marL="0">
              <a:buNone/>
            </a:pPr>
            <a:r>
              <a:rPr lang="en-US" sz="650" dirty="0">
                <a:solidFill>
                  <a:srgbClr val="A9B6C7"/>
                </a:solidFill>
              </a:rPr>
              <a:t>Sources in speaker notes | Draft for board discussion</a:t>
            </a:r>
            <a:endParaRPr lang="en-US" sz="650" dirty="0"/>
          </a:p>
        </p:txBody>
      </p:sp>
      <p:sp>
        <p:nvSpPr>
          <p:cNvPr id="8" name="Text 6"/>
          <p:cNvSpPr/>
          <p:nvPr/>
        </p:nvSpPr>
        <p:spPr>
          <a:xfrm>
            <a:off x="7452360" y="6446520"/>
            <a:ext cx="4160520" cy="146304"/>
          </a:xfrm>
          <a:prstGeom prst="rect">
            <a:avLst/>
          </a:prstGeom>
          <a:noFill/>
          <a:ln/>
        </p:spPr>
        <p:txBody>
          <a:bodyPr wrap="square" lIns="0" tIns="0" rIns="0" bIns="0" rtlCol="0" anchor="ctr"/>
          <a:lstStyle/>
          <a:p>
            <a:pPr algn="r" indent="0" marL="0">
              <a:buNone/>
            </a:pPr>
            <a:r>
              <a:rPr lang="en-US" sz="650" dirty="0">
                <a:solidFill>
                  <a:srgbClr val="A9B6C7"/>
                </a:solidFill>
              </a:rPr>
              <a:t>Kari Odermann + Dunlevy Aerospace strategic pilot</a:t>
            </a:r>
            <a:endParaRPr lang="en-US" sz="650" dirty="0"/>
          </a:p>
        </p:txBody>
      </p:sp>
      <p:sp>
        <p:nvSpPr>
          <p:cNvPr id="9" name="Text 7"/>
          <p:cNvSpPr/>
          <p:nvPr/>
        </p:nvSpPr>
        <p:spPr>
          <a:xfrm>
            <a:off x="658368" y="685800"/>
            <a:ext cx="10332720" cy="868680"/>
          </a:xfrm>
          <a:prstGeom prst="rect">
            <a:avLst/>
          </a:prstGeom>
          <a:noFill/>
          <a:ln/>
        </p:spPr>
        <p:txBody>
          <a:bodyPr wrap="square" lIns="0" tIns="0" rIns="0" bIns="0" rtlCol="0" anchor="ctr">
            <a:normAutofit/>
          </a:bodyPr>
          <a:lstStyle/>
          <a:p>
            <a:pPr indent="0" marL="0">
              <a:buNone/>
            </a:pPr>
            <a:r>
              <a:rPr lang="en-US" sz="2500" b="1" dirty="0">
                <a:solidFill>
                  <a:srgbClr val="F8FAFC"/>
                </a:solidFill>
                <a:latin typeface="Aptos Display" pitchFamily="34" charset="0"/>
                <a:ea typeface="Aptos Display" pitchFamily="34" charset="-122"/>
                <a:cs typeface="Aptos Display" pitchFamily="34" charset="-120"/>
              </a:rPr>
              <a:t>A trusted relationship, structured as a low-risk strategic pilot</a:t>
            </a:r>
            <a:endParaRPr lang="en-US" sz="2500" dirty="0"/>
          </a:p>
        </p:txBody>
      </p:sp>
      <p:sp>
        <p:nvSpPr>
          <p:cNvPr id="10" name="Shape 8"/>
          <p:cNvSpPr/>
          <p:nvPr/>
        </p:nvSpPr>
        <p:spPr>
          <a:xfrm>
            <a:off x="749808" y="1828800"/>
            <a:ext cx="1901952" cy="859536"/>
          </a:xfrm>
          <a:prstGeom prst="roundRect">
            <a:avLst>
              <a:gd name="adj" fmla="val 4255"/>
            </a:avLst>
          </a:prstGeom>
          <a:solidFill>
            <a:srgbClr val="172535"/>
          </a:solidFill>
          <a:ln w="10160">
            <a:solidFill>
              <a:srgbClr val="3A4656"/>
            </a:solidFill>
            <a:prstDash val="solid"/>
          </a:ln>
        </p:spPr>
      </p:sp>
      <p:sp>
        <p:nvSpPr>
          <p:cNvPr id="11" name="Text 9"/>
          <p:cNvSpPr/>
          <p:nvPr/>
        </p:nvSpPr>
        <p:spPr>
          <a:xfrm>
            <a:off x="877824" y="2011680"/>
            <a:ext cx="1645920" cy="146304"/>
          </a:xfrm>
          <a:prstGeom prst="rect">
            <a:avLst/>
          </a:prstGeom>
          <a:noFill/>
          <a:ln/>
        </p:spPr>
        <p:txBody>
          <a:bodyPr wrap="square" lIns="0" tIns="0" rIns="0" bIns="0" rtlCol="0" anchor="ctr">
            <a:normAutofit/>
          </a:bodyPr>
          <a:lstStyle/>
          <a:p>
            <a:pPr algn="ctr" indent="0" marL="0">
              <a:buNone/>
            </a:pPr>
            <a:r>
              <a:rPr lang="en-US" sz="980" b="1" dirty="0">
                <a:solidFill>
                  <a:srgbClr val="F8FAFC"/>
                </a:solidFill>
              </a:rPr>
              <a:t>Trust advantage</a:t>
            </a:r>
            <a:endParaRPr lang="en-US" sz="980" dirty="0"/>
          </a:p>
        </p:txBody>
      </p:sp>
      <p:sp>
        <p:nvSpPr>
          <p:cNvPr id="12" name="Text 10"/>
          <p:cNvSpPr/>
          <p:nvPr/>
        </p:nvSpPr>
        <p:spPr>
          <a:xfrm>
            <a:off x="905256" y="2258568"/>
            <a:ext cx="1581912" cy="246888"/>
          </a:xfrm>
          <a:prstGeom prst="rect">
            <a:avLst/>
          </a:prstGeom>
          <a:noFill/>
          <a:ln/>
        </p:spPr>
        <p:txBody>
          <a:bodyPr wrap="square" lIns="0" tIns="0" rIns="0" bIns="0" rtlCol="0" anchor="ctr">
            <a:normAutofit/>
          </a:bodyPr>
          <a:lstStyle/>
          <a:p>
            <a:pPr algn="ctr" indent="0" marL="0">
              <a:buNone/>
            </a:pPr>
            <a:r>
              <a:rPr lang="en-US" sz="680" dirty="0">
                <a:solidFill>
                  <a:srgbClr val="A9B6C7"/>
                </a:solidFill>
              </a:rPr>
              <a:t>existing personal /</a:t>
            </a:r>
            <a:endParaRPr lang="en-US" sz="680" dirty="0"/>
          </a:p>
          <a:p>
            <a:pPr algn="ctr" indent="0" marL="0">
              <a:buNone/>
            </a:pPr>
            <a:r>
              <a:rPr lang="en-US" sz="680" dirty="0">
                <a:solidFill>
                  <a:srgbClr val="A9B6C7"/>
                </a:solidFill>
              </a:rPr>
              <a:t>professional relationship</a:t>
            </a:r>
            <a:endParaRPr lang="en-US" sz="680" dirty="0"/>
          </a:p>
        </p:txBody>
      </p:sp>
      <p:sp>
        <p:nvSpPr>
          <p:cNvPr id="13" name="Shape 11"/>
          <p:cNvSpPr/>
          <p:nvPr/>
        </p:nvSpPr>
        <p:spPr>
          <a:xfrm>
            <a:off x="2651760" y="2258568"/>
            <a:ext cx="329184" cy="0"/>
          </a:xfrm>
          <a:prstGeom prst="line">
            <a:avLst/>
          </a:prstGeom>
          <a:noFill/>
          <a:ln w="15240">
            <a:solidFill>
              <a:srgbClr val="5E8FB8"/>
            </a:solidFill>
            <a:prstDash val="solid"/>
            <a:tailEnd type="triangle"/>
          </a:ln>
        </p:spPr>
      </p:sp>
      <p:sp>
        <p:nvSpPr>
          <p:cNvPr id="14" name="Shape 12"/>
          <p:cNvSpPr/>
          <p:nvPr/>
        </p:nvSpPr>
        <p:spPr>
          <a:xfrm>
            <a:off x="2999232" y="1828800"/>
            <a:ext cx="1901952" cy="859536"/>
          </a:xfrm>
          <a:prstGeom prst="roundRect">
            <a:avLst>
              <a:gd name="adj" fmla="val 4255"/>
            </a:avLst>
          </a:prstGeom>
          <a:solidFill>
            <a:srgbClr val="172535"/>
          </a:solidFill>
          <a:ln w="10160">
            <a:solidFill>
              <a:srgbClr val="3A4656"/>
            </a:solidFill>
            <a:prstDash val="solid"/>
          </a:ln>
        </p:spPr>
      </p:sp>
      <p:sp>
        <p:nvSpPr>
          <p:cNvPr id="15" name="Text 13"/>
          <p:cNvSpPr/>
          <p:nvPr/>
        </p:nvSpPr>
        <p:spPr>
          <a:xfrm>
            <a:off x="3127248" y="2011680"/>
            <a:ext cx="1645920" cy="146304"/>
          </a:xfrm>
          <a:prstGeom prst="rect">
            <a:avLst/>
          </a:prstGeom>
          <a:noFill/>
          <a:ln/>
        </p:spPr>
        <p:txBody>
          <a:bodyPr wrap="square" lIns="0" tIns="0" rIns="0" bIns="0" rtlCol="0" anchor="ctr">
            <a:normAutofit/>
          </a:bodyPr>
          <a:lstStyle/>
          <a:p>
            <a:pPr algn="ctr" indent="0" marL="0">
              <a:buNone/>
            </a:pPr>
            <a:r>
              <a:rPr lang="en-US" sz="980" b="1" dirty="0">
                <a:solidFill>
                  <a:srgbClr val="F8FAFC"/>
                </a:solidFill>
              </a:rPr>
              <a:t>Defined scope</a:t>
            </a:r>
            <a:endParaRPr lang="en-US" sz="980" dirty="0"/>
          </a:p>
        </p:txBody>
      </p:sp>
      <p:sp>
        <p:nvSpPr>
          <p:cNvPr id="16" name="Text 14"/>
          <p:cNvSpPr/>
          <p:nvPr/>
        </p:nvSpPr>
        <p:spPr>
          <a:xfrm>
            <a:off x="3154680" y="2258568"/>
            <a:ext cx="1581912" cy="246888"/>
          </a:xfrm>
          <a:prstGeom prst="rect">
            <a:avLst/>
          </a:prstGeom>
          <a:noFill/>
          <a:ln/>
        </p:spPr>
        <p:txBody>
          <a:bodyPr wrap="square" lIns="0" tIns="0" rIns="0" bIns="0" rtlCol="0" anchor="ctr">
            <a:normAutofit/>
          </a:bodyPr>
          <a:lstStyle/>
          <a:p>
            <a:pPr algn="ctr" indent="0" marL="0">
              <a:buNone/>
            </a:pPr>
            <a:r>
              <a:rPr lang="en-US" sz="680" dirty="0">
                <a:solidFill>
                  <a:srgbClr val="A9B6C7"/>
                </a:solidFill>
              </a:rPr>
              <a:t>60-90 day exploratory</a:t>
            </a:r>
            <a:endParaRPr lang="en-US" sz="680" dirty="0"/>
          </a:p>
          <a:p>
            <a:pPr algn="ctr" indent="0" marL="0">
              <a:buNone/>
            </a:pPr>
            <a:r>
              <a:rPr lang="en-US" sz="680" dirty="0">
                <a:solidFill>
                  <a:srgbClr val="A9B6C7"/>
                </a:solidFill>
              </a:rPr>
              <a:t>pilot</a:t>
            </a:r>
            <a:endParaRPr lang="en-US" sz="680" dirty="0"/>
          </a:p>
        </p:txBody>
      </p:sp>
      <p:sp>
        <p:nvSpPr>
          <p:cNvPr id="17" name="Shape 15"/>
          <p:cNvSpPr/>
          <p:nvPr/>
        </p:nvSpPr>
        <p:spPr>
          <a:xfrm>
            <a:off x="4901184" y="2258568"/>
            <a:ext cx="329184" cy="0"/>
          </a:xfrm>
          <a:prstGeom prst="line">
            <a:avLst/>
          </a:prstGeom>
          <a:noFill/>
          <a:ln w="15240">
            <a:solidFill>
              <a:srgbClr val="5E8FB8"/>
            </a:solidFill>
            <a:prstDash val="solid"/>
            <a:tailEnd type="triangle"/>
          </a:ln>
        </p:spPr>
      </p:sp>
      <p:sp>
        <p:nvSpPr>
          <p:cNvPr id="18" name="Shape 16"/>
          <p:cNvSpPr/>
          <p:nvPr/>
        </p:nvSpPr>
        <p:spPr>
          <a:xfrm>
            <a:off x="5248656" y="1828800"/>
            <a:ext cx="1901952" cy="859536"/>
          </a:xfrm>
          <a:prstGeom prst="roundRect">
            <a:avLst>
              <a:gd name="adj" fmla="val 4255"/>
            </a:avLst>
          </a:prstGeom>
          <a:solidFill>
            <a:srgbClr val="172535"/>
          </a:solidFill>
          <a:ln w="10160">
            <a:solidFill>
              <a:srgbClr val="3A4656"/>
            </a:solidFill>
            <a:prstDash val="solid"/>
          </a:ln>
        </p:spPr>
      </p:sp>
      <p:sp>
        <p:nvSpPr>
          <p:cNvPr id="19" name="Text 17"/>
          <p:cNvSpPr/>
          <p:nvPr/>
        </p:nvSpPr>
        <p:spPr>
          <a:xfrm>
            <a:off x="5376672" y="2011680"/>
            <a:ext cx="1645920" cy="146304"/>
          </a:xfrm>
          <a:prstGeom prst="rect">
            <a:avLst/>
          </a:prstGeom>
          <a:noFill/>
          <a:ln/>
        </p:spPr>
        <p:txBody>
          <a:bodyPr wrap="square" lIns="0" tIns="0" rIns="0" bIns="0" rtlCol="0" anchor="ctr">
            <a:normAutofit/>
          </a:bodyPr>
          <a:lstStyle/>
          <a:p>
            <a:pPr algn="ctr" indent="0" marL="0">
              <a:buNone/>
            </a:pPr>
            <a:r>
              <a:rPr lang="en-US" sz="980" b="1" dirty="0">
                <a:solidFill>
                  <a:srgbClr val="F8FAFC"/>
                </a:solidFill>
              </a:rPr>
              <a:t>Board gates</a:t>
            </a:r>
            <a:endParaRPr lang="en-US" sz="980" dirty="0"/>
          </a:p>
        </p:txBody>
      </p:sp>
      <p:sp>
        <p:nvSpPr>
          <p:cNvPr id="20" name="Text 18"/>
          <p:cNvSpPr/>
          <p:nvPr/>
        </p:nvSpPr>
        <p:spPr>
          <a:xfrm>
            <a:off x="5404104" y="2258568"/>
            <a:ext cx="1581912" cy="246888"/>
          </a:xfrm>
          <a:prstGeom prst="rect">
            <a:avLst/>
          </a:prstGeom>
          <a:noFill/>
          <a:ln/>
        </p:spPr>
        <p:txBody>
          <a:bodyPr wrap="square" lIns="0" tIns="0" rIns="0" bIns="0" rtlCol="0" anchor="ctr">
            <a:normAutofit/>
          </a:bodyPr>
          <a:lstStyle/>
          <a:p>
            <a:pPr algn="ctr" indent="0" marL="0">
              <a:buNone/>
            </a:pPr>
            <a:r>
              <a:rPr lang="en-US" sz="680" dirty="0">
                <a:solidFill>
                  <a:srgbClr val="A9B6C7"/>
                </a:solidFill>
              </a:rPr>
              <a:t>no authority to bind;</a:t>
            </a:r>
            <a:endParaRPr lang="en-US" sz="680" dirty="0"/>
          </a:p>
          <a:p>
            <a:pPr algn="ctr" indent="0" marL="0">
              <a:buNone/>
            </a:pPr>
            <a:r>
              <a:rPr lang="en-US" sz="680" dirty="0">
                <a:solidFill>
                  <a:srgbClr val="A9B6C7"/>
                </a:solidFill>
              </a:rPr>
              <a:t>legal review first</a:t>
            </a:r>
            <a:endParaRPr lang="en-US" sz="680" dirty="0"/>
          </a:p>
        </p:txBody>
      </p:sp>
      <p:sp>
        <p:nvSpPr>
          <p:cNvPr id="21" name="Shape 19"/>
          <p:cNvSpPr/>
          <p:nvPr/>
        </p:nvSpPr>
        <p:spPr>
          <a:xfrm>
            <a:off x="7150608" y="2258568"/>
            <a:ext cx="329184" cy="0"/>
          </a:xfrm>
          <a:prstGeom prst="line">
            <a:avLst/>
          </a:prstGeom>
          <a:noFill/>
          <a:ln w="15240">
            <a:solidFill>
              <a:srgbClr val="5E8FB8"/>
            </a:solidFill>
            <a:prstDash val="solid"/>
            <a:tailEnd type="triangle"/>
          </a:ln>
        </p:spPr>
      </p:sp>
      <p:sp>
        <p:nvSpPr>
          <p:cNvPr id="22" name="Shape 20"/>
          <p:cNvSpPr/>
          <p:nvPr/>
        </p:nvSpPr>
        <p:spPr>
          <a:xfrm>
            <a:off x="7498080" y="1828800"/>
            <a:ext cx="1901952" cy="859536"/>
          </a:xfrm>
          <a:prstGeom prst="roundRect">
            <a:avLst>
              <a:gd name="adj" fmla="val 4255"/>
            </a:avLst>
          </a:prstGeom>
          <a:solidFill>
            <a:srgbClr val="172535"/>
          </a:solidFill>
          <a:ln w="10160">
            <a:solidFill>
              <a:srgbClr val="3A4656"/>
            </a:solidFill>
            <a:prstDash val="solid"/>
          </a:ln>
        </p:spPr>
      </p:sp>
      <p:sp>
        <p:nvSpPr>
          <p:cNvPr id="23" name="Text 21"/>
          <p:cNvSpPr/>
          <p:nvPr/>
        </p:nvSpPr>
        <p:spPr>
          <a:xfrm>
            <a:off x="7626096" y="2011680"/>
            <a:ext cx="1645920" cy="146304"/>
          </a:xfrm>
          <a:prstGeom prst="rect">
            <a:avLst/>
          </a:prstGeom>
          <a:noFill/>
          <a:ln/>
        </p:spPr>
        <p:txBody>
          <a:bodyPr wrap="square" lIns="0" tIns="0" rIns="0" bIns="0" rtlCol="0" anchor="ctr">
            <a:normAutofit/>
          </a:bodyPr>
          <a:lstStyle/>
          <a:p>
            <a:pPr algn="ctr" indent="0" marL="0">
              <a:buNone/>
            </a:pPr>
            <a:r>
              <a:rPr lang="en-US" sz="980" b="1" dirty="0">
                <a:solidFill>
                  <a:srgbClr val="F8FAFC"/>
                </a:solidFill>
              </a:rPr>
              <a:t>Measurable outputs</a:t>
            </a:r>
            <a:endParaRPr lang="en-US" sz="980" dirty="0"/>
          </a:p>
        </p:txBody>
      </p:sp>
      <p:sp>
        <p:nvSpPr>
          <p:cNvPr id="24" name="Text 22"/>
          <p:cNvSpPr/>
          <p:nvPr/>
        </p:nvSpPr>
        <p:spPr>
          <a:xfrm>
            <a:off x="7653528" y="2258568"/>
            <a:ext cx="1581912" cy="246888"/>
          </a:xfrm>
          <a:prstGeom prst="rect">
            <a:avLst/>
          </a:prstGeom>
          <a:noFill/>
          <a:ln/>
        </p:spPr>
        <p:txBody>
          <a:bodyPr wrap="square" lIns="0" tIns="0" rIns="0" bIns="0" rtlCol="0" anchor="ctr">
            <a:normAutofit/>
          </a:bodyPr>
          <a:lstStyle/>
          <a:p>
            <a:pPr algn="ctr" indent="0" marL="0">
              <a:buNone/>
            </a:pPr>
            <a:r>
              <a:rPr lang="en-US" sz="680" dirty="0">
                <a:solidFill>
                  <a:srgbClr val="A9B6C7"/>
                </a:solidFill>
              </a:rPr>
              <a:t>targets, conferences,</a:t>
            </a:r>
            <a:endParaRPr lang="en-US" sz="680" dirty="0"/>
          </a:p>
          <a:p>
            <a:pPr algn="ctr" indent="0" marL="0">
              <a:buNone/>
            </a:pPr>
            <a:r>
              <a:rPr lang="en-US" sz="680" dirty="0">
                <a:solidFill>
                  <a:srgbClr val="A9B6C7"/>
                </a:solidFill>
              </a:rPr>
              <a:t>risk checklist</a:t>
            </a:r>
            <a:endParaRPr lang="en-US" sz="680" dirty="0"/>
          </a:p>
        </p:txBody>
      </p:sp>
      <p:sp>
        <p:nvSpPr>
          <p:cNvPr id="25" name="Shape 23"/>
          <p:cNvSpPr/>
          <p:nvPr/>
        </p:nvSpPr>
        <p:spPr>
          <a:xfrm>
            <a:off x="9400032" y="2258568"/>
            <a:ext cx="329184" cy="0"/>
          </a:xfrm>
          <a:prstGeom prst="line">
            <a:avLst/>
          </a:prstGeom>
          <a:noFill/>
          <a:ln w="15240">
            <a:solidFill>
              <a:srgbClr val="5E8FB8"/>
            </a:solidFill>
            <a:prstDash val="solid"/>
            <a:tailEnd type="triangle"/>
          </a:ln>
        </p:spPr>
      </p:sp>
      <p:sp>
        <p:nvSpPr>
          <p:cNvPr id="26" name="Shape 24"/>
          <p:cNvSpPr/>
          <p:nvPr/>
        </p:nvSpPr>
        <p:spPr>
          <a:xfrm>
            <a:off x="9747504" y="1828800"/>
            <a:ext cx="1901952" cy="859536"/>
          </a:xfrm>
          <a:prstGeom prst="roundRect">
            <a:avLst>
              <a:gd name="adj" fmla="val 4255"/>
            </a:avLst>
          </a:prstGeom>
          <a:solidFill>
            <a:srgbClr val="C6A15B"/>
          </a:solidFill>
          <a:ln w="10160">
            <a:solidFill>
              <a:srgbClr val="C6A15B"/>
            </a:solidFill>
            <a:prstDash val="solid"/>
          </a:ln>
        </p:spPr>
      </p:sp>
      <p:sp>
        <p:nvSpPr>
          <p:cNvPr id="27" name="Text 25"/>
          <p:cNvSpPr/>
          <p:nvPr/>
        </p:nvSpPr>
        <p:spPr>
          <a:xfrm>
            <a:off x="9875520" y="2011680"/>
            <a:ext cx="1645920" cy="146304"/>
          </a:xfrm>
          <a:prstGeom prst="rect">
            <a:avLst/>
          </a:prstGeom>
          <a:noFill/>
          <a:ln/>
        </p:spPr>
        <p:txBody>
          <a:bodyPr wrap="square" lIns="0" tIns="0" rIns="0" bIns="0" rtlCol="0" anchor="ctr">
            <a:normAutofit/>
          </a:bodyPr>
          <a:lstStyle/>
          <a:p>
            <a:pPr algn="ctr" indent="0" marL="0">
              <a:buNone/>
            </a:pPr>
            <a:r>
              <a:rPr lang="en-US" sz="980" b="1" dirty="0">
                <a:solidFill>
                  <a:srgbClr val="081421"/>
                </a:solidFill>
              </a:rPr>
              <a:t>Next-stage decision</a:t>
            </a:r>
            <a:endParaRPr lang="en-US" sz="980" dirty="0"/>
          </a:p>
        </p:txBody>
      </p:sp>
      <p:sp>
        <p:nvSpPr>
          <p:cNvPr id="28" name="Text 26"/>
          <p:cNvSpPr/>
          <p:nvPr/>
        </p:nvSpPr>
        <p:spPr>
          <a:xfrm>
            <a:off x="9902952" y="2258568"/>
            <a:ext cx="1581912" cy="246888"/>
          </a:xfrm>
          <a:prstGeom prst="rect">
            <a:avLst/>
          </a:prstGeom>
          <a:noFill/>
          <a:ln/>
        </p:spPr>
        <p:txBody>
          <a:bodyPr wrap="square" lIns="0" tIns="0" rIns="0" bIns="0" rtlCol="0" anchor="ctr">
            <a:normAutofit/>
          </a:bodyPr>
          <a:lstStyle/>
          <a:p>
            <a:pPr algn="ctr" indent="0" marL="0">
              <a:buNone/>
            </a:pPr>
            <a:r>
              <a:rPr lang="en-US" sz="680" dirty="0">
                <a:solidFill>
                  <a:srgbClr val="081421"/>
                </a:solidFill>
              </a:rPr>
              <a:t>go / no-go board</a:t>
            </a:r>
            <a:endParaRPr lang="en-US" sz="680" dirty="0"/>
          </a:p>
          <a:p>
            <a:pPr algn="ctr" indent="0" marL="0">
              <a:buNone/>
            </a:pPr>
            <a:r>
              <a:rPr lang="en-US" sz="680" dirty="0">
                <a:solidFill>
                  <a:srgbClr val="081421"/>
                </a:solidFill>
              </a:rPr>
              <a:t>update</a:t>
            </a:r>
            <a:endParaRPr lang="en-US" sz="680" dirty="0"/>
          </a:p>
        </p:txBody>
      </p:sp>
      <p:sp>
        <p:nvSpPr>
          <p:cNvPr id="29" name="Text 27"/>
          <p:cNvSpPr/>
          <p:nvPr/>
        </p:nvSpPr>
        <p:spPr>
          <a:xfrm>
            <a:off x="822960" y="3401568"/>
            <a:ext cx="3840480" cy="201168"/>
          </a:xfrm>
          <a:prstGeom prst="rect">
            <a:avLst/>
          </a:prstGeom>
          <a:noFill/>
          <a:ln/>
        </p:spPr>
        <p:txBody>
          <a:bodyPr wrap="square" lIns="0" tIns="0" rIns="0" bIns="0" rtlCol="0" anchor="ctr"/>
          <a:lstStyle/>
          <a:p>
            <a:pPr indent="0" marL="0">
              <a:buNone/>
            </a:pPr>
            <a:r>
              <a:rPr lang="en-US" sz="1300" b="1" dirty="0">
                <a:solidFill>
                  <a:srgbClr val="F8FAFC"/>
                </a:solidFill>
              </a:rPr>
              <a:t>Recommended 60-90 day pilot deliverables</a:t>
            </a:r>
            <a:endParaRPr lang="en-US" sz="1300" dirty="0"/>
          </a:p>
        </p:txBody>
      </p:sp>
      <p:sp>
        <p:nvSpPr>
          <p:cNvPr id="30" name="Text 28"/>
          <p:cNvSpPr/>
          <p:nvPr/>
        </p:nvSpPr>
        <p:spPr>
          <a:xfrm>
            <a:off x="859536" y="3785616"/>
            <a:ext cx="201168" cy="137160"/>
          </a:xfrm>
          <a:prstGeom prst="rect">
            <a:avLst/>
          </a:prstGeom>
          <a:noFill/>
          <a:ln/>
        </p:spPr>
        <p:txBody>
          <a:bodyPr wrap="square" lIns="0" tIns="0" rIns="0" bIns="0" rtlCol="0" anchor="ctr"/>
          <a:lstStyle/>
          <a:p>
            <a:pPr algn="ctr" indent="0" marL="0">
              <a:buNone/>
            </a:pPr>
            <a:r>
              <a:rPr lang="en-US" sz="700" b="1" dirty="0">
                <a:solidFill>
                  <a:srgbClr val="C6A15B"/>
                </a:solidFill>
              </a:rPr>
              <a:t>1</a:t>
            </a:r>
            <a:endParaRPr lang="en-US" sz="700" dirty="0"/>
          </a:p>
        </p:txBody>
      </p:sp>
      <p:sp>
        <p:nvSpPr>
          <p:cNvPr id="31" name="Shape 29"/>
          <p:cNvSpPr/>
          <p:nvPr/>
        </p:nvSpPr>
        <p:spPr>
          <a:xfrm>
            <a:off x="1152144" y="3867912"/>
            <a:ext cx="310896" cy="0"/>
          </a:xfrm>
          <a:prstGeom prst="line">
            <a:avLst/>
          </a:prstGeom>
          <a:noFill/>
          <a:ln w="10160">
            <a:solidFill>
              <a:srgbClr val="C6A15B"/>
            </a:solidFill>
            <a:prstDash val="solid"/>
          </a:ln>
        </p:spPr>
      </p:sp>
      <p:sp>
        <p:nvSpPr>
          <p:cNvPr id="32" name="Text 30"/>
          <p:cNvSpPr/>
          <p:nvPr/>
        </p:nvSpPr>
        <p:spPr>
          <a:xfrm>
            <a:off x="1600200" y="3776472"/>
            <a:ext cx="4663440" cy="182880"/>
          </a:xfrm>
          <a:prstGeom prst="rect">
            <a:avLst/>
          </a:prstGeom>
          <a:noFill/>
          <a:ln/>
        </p:spPr>
        <p:txBody>
          <a:bodyPr wrap="square" lIns="0" tIns="0" rIns="0" bIns="0" rtlCol="0" anchor="ctr">
            <a:normAutofit/>
          </a:bodyPr>
          <a:lstStyle/>
          <a:p>
            <a:pPr indent="0" marL="0">
              <a:buNone/>
            </a:pPr>
            <a:r>
              <a:rPr lang="en-US" sz="890" dirty="0">
                <a:solidFill>
                  <a:srgbClr val="DDE6EF"/>
                </a:solidFill>
              </a:rPr>
              <a:t>Map 10-15 qualified international investor / strategic partner targets.</a:t>
            </a:r>
            <a:endParaRPr lang="en-US" sz="890" dirty="0"/>
          </a:p>
        </p:txBody>
      </p:sp>
      <p:sp>
        <p:nvSpPr>
          <p:cNvPr id="33" name="Text 31"/>
          <p:cNvSpPr/>
          <p:nvPr/>
        </p:nvSpPr>
        <p:spPr>
          <a:xfrm>
            <a:off x="859536" y="4133088"/>
            <a:ext cx="201168" cy="137160"/>
          </a:xfrm>
          <a:prstGeom prst="rect">
            <a:avLst/>
          </a:prstGeom>
          <a:noFill/>
          <a:ln/>
        </p:spPr>
        <p:txBody>
          <a:bodyPr wrap="square" lIns="0" tIns="0" rIns="0" bIns="0" rtlCol="0" anchor="ctr"/>
          <a:lstStyle/>
          <a:p>
            <a:pPr algn="ctr" indent="0" marL="0">
              <a:buNone/>
            </a:pPr>
            <a:r>
              <a:rPr lang="en-US" sz="700" b="1" dirty="0">
                <a:solidFill>
                  <a:srgbClr val="C6A15B"/>
                </a:solidFill>
              </a:rPr>
              <a:t>2</a:t>
            </a:r>
            <a:endParaRPr lang="en-US" sz="700" dirty="0"/>
          </a:p>
        </p:txBody>
      </p:sp>
      <p:sp>
        <p:nvSpPr>
          <p:cNvPr id="34" name="Shape 32"/>
          <p:cNvSpPr/>
          <p:nvPr/>
        </p:nvSpPr>
        <p:spPr>
          <a:xfrm>
            <a:off x="1152144" y="4215384"/>
            <a:ext cx="310896" cy="0"/>
          </a:xfrm>
          <a:prstGeom prst="line">
            <a:avLst/>
          </a:prstGeom>
          <a:noFill/>
          <a:ln w="10160">
            <a:solidFill>
              <a:srgbClr val="C6A15B"/>
            </a:solidFill>
            <a:prstDash val="solid"/>
          </a:ln>
        </p:spPr>
      </p:sp>
      <p:sp>
        <p:nvSpPr>
          <p:cNvPr id="35" name="Text 33"/>
          <p:cNvSpPr/>
          <p:nvPr/>
        </p:nvSpPr>
        <p:spPr>
          <a:xfrm>
            <a:off x="1600200" y="4123944"/>
            <a:ext cx="4663440" cy="182880"/>
          </a:xfrm>
          <a:prstGeom prst="rect">
            <a:avLst/>
          </a:prstGeom>
          <a:noFill/>
          <a:ln/>
        </p:spPr>
        <p:txBody>
          <a:bodyPr wrap="square" lIns="0" tIns="0" rIns="0" bIns="0" rtlCol="0" anchor="ctr">
            <a:normAutofit/>
          </a:bodyPr>
          <a:lstStyle/>
          <a:p>
            <a:pPr indent="0" marL="0">
              <a:buNone/>
            </a:pPr>
            <a:r>
              <a:rPr lang="en-US" sz="890" dirty="0">
                <a:solidFill>
                  <a:srgbClr val="DDE6EF"/>
                </a:solidFill>
              </a:rPr>
              <a:t>Identify 3-5 relevant European security conference or network opportunities.</a:t>
            </a:r>
            <a:endParaRPr lang="en-US" sz="890" dirty="0"/>
          </a:p>
        </p:txBody>
      </p:sp>
      <p:sp>
        <p:nvSpPr>
          <p:cNvPr id="36" name="Text 34"/>
          <p:cNvSpPr/>
          <p:nvPr/>
        </p:nvSpPr>
        <p:spPr>
          <a:xfrm>
            <a:off x="859536" y="4480560"/>
            <a:ext cx="201168" cy="137160"/>
          </a:xfrm>
          <a:prstGeom prst="rect">
            <a:avLst/>
          </a:prstGeom>
          <a:noFill/>
          <a:ln/>
        </p:spPr>
        <p:txBody>
          <a:bodyPr wrap="square" lIns="0" tIns="0" rIns="0" bIns="0" rtlCol="0" anchor="ctr"/>
          <a:lstStyle/>
          <a:p>
            <a:pPr algn="ctr" indent="0" marL="0">
              <a:buNone/>
            </a:pPr>
            <a:r>
              <a:rPr lang="en-US" sz="700" b="1" dirty="0">
                <a:solidFill>
                  <a:srgbClr val="C6A15B"/>
                </a:solidFill>
              </a:rPr>
              <a:t>3</a:t>
            </a:r>
            <a:endParaRPr lang="en-US" sz="700" dirty="0"/>
          </a:p>
        </p:txBody>
      </p:sp>
      <p:sp>
        <p:nvSpPr>
          <p:cNvPr id="37" name="Shape 35"/>
          <p:cNvSpPr/>
          <p:nvPr/>
        </p:nvSpPr>
        <p:spPr>
          <a:xfrm>
            <a:off x="1152144" y="4562856"/>
            <a:ext cx="310896" cy="0"/>
          </a:xfrm>
          <a:prstGeom prst="line">
            <a:avLst/>
          </a:prstGeom>
          <a:noFill/>
          <a:ln w="10160">
            <a:solidFill>
              <a:srgbClr val="C6A15B"/>
            </a:solidFill>
            <a:prstDash val="solid"/>
          </a:ln>
        </p:spPr>
      </p:sp>
      <p:sp>
        <p:nvSpPr>
          <p:cNvPr id="38" name="Text 36"/>
          <p:cNvSpPr/>
          <p:nvPr/>
        </p:nvSpPr>
        <p:spPr>
          <a:xfrm>
            <a:off x="1600200" y="4471416"/>
            <a:ext cx="4663440" cy="182880"/>
          </a:xfrm>
          <a:prstGeom prst="rect">
            <a:avLst/>
          </a:prstGeom>
          <a:noFill/>
          <a:ln/>
        </p:spPr>
        <p:txBody>
          <a:bodyPr wrap="square" lIns="0" tIns="0" rIns="0" bIns="0" rtlCol="0" anchor="ctr">
            <a:normAutofit/>
          </a:bodyPr>
          <a:lstStyle/>
          <a:p>
            <a:pPr indent="0" marL="0">
              <a:buNone/>
            </a:pPr>
            <a:r>
              <a:rPr lang="en-US" sz="890" dirty="0">
                <a:solidFill>
                  <a:srgbClr val="DDE6EF"/>
                </a:solidFill>
              </a:rPr>
              <a:t>Produce preliminary compliance / risk checklist and priority market view.</a:t>
            </a:r>
            <a:endParaRPr lang="en-US" sz="890" dirty="0"/>
          </a:p>
        </p:txBody>
      </p:sp>
      <p:sp>
        <p:nvSpPr>
          <p:cNvPr id="39" name="Text 37"/>
          <p:cNvSpPr/>
          <p:nvPr/>
        </p:nvSpPr>
        <p:spPr>
          <a:xfrm>
            <a:off x="859536" y="4828032"/>
            <a:ext cx="201168" cy="137160"/>
          </a:xfrm>
          <a:prstGeom prst="rect">
            <a:avLst/>
          </a:prstGeom>
          <a:noFill/>
          <a:ln/>
        </p:spPr>
        <p:txBody>
          <a:bodyPr wrap="square" lIns="0" tIns="0" rIns="0" bIns="0" rtlCol="0" anchor="ctr"/>
          <a:lstStyle/>
          <a:p>
            <a:pPr algn="ctr" indent="0" marL="0">
              <a:buNone/>
            </a:pPr>
            <a:r>
              <a:rPr lang="en-US" sz="700" b="1" dirty="0">
                <a:solidFill>
                  <a:srgbClr val="C6A15B"/>
                </a:solidFill>
              </a:rPr>
              <a:t>4</a:t>
            </a:r>
            <a:endParaRPr lang="en-US" sz="700" dirty="0"/>
          </a:p>
        </p:txBody>
      </p:sp>
      <p:sp>
        <p:nvSpPr>
          <p:cNvPr id="40" name="Shape 38"/>
          <p:cNvSpPr/>
          <p:nvPr/>
        </p:nvSpPr>
        <p:spPr>
          <a:xfrm>
            <a:off x="1152144" y="4910328"/>
            <a:ext cx="310896" cy="0"/>
          </a:xfrm>
          <a:prstGeom prst="line">
            <a:avLst/>
          </a:prstGeom>
          <a:noFill/>
          <a:ln w="10160">
            <a:solidFill>
              <a:srgbClr val="C6A15B"/>
            </a:solidFill>
            <a:prstDash val="solid"/>
          </a:ln>
        </p:spPr>
      </p:sp>
      <p:sp>
        <p:nvSpPr>
          <p:cNvPr id="41" name="Text 39"/>
          <p:cNvSpPr/>
          <p:nvPr/>
        </p:nvSpPr>
        <p:spPr>
          <a:xfrm>
            <a:off x="1600200" y="4818888"/>
            <a:ext cx="4663440" cy="182880"/>
          </a:xfrm>
          <a:prstGeom prst="rect">
            <a:avLst/>
          </a:prstGeom>
          <a:noFill/>
          <a:ln/>
        </p:spPr>
        <p:txBody>
          <a:bodyPr wrap="square" lIns="0" tIns="0" rIns="0" bIns="0" rtlCol="0" anchor="ctr">
            <a:normAutofit/>
          </a:bodyPr>
          <a:lstStyle/>
          <a:p>
            <a:pPr indent="0" marL="0">
              <a:buNone/>
            </a:pPr>
            <a:r>
              <a:rPr lang="en-US" sz="890" dirty="0">
                <a:solidFill>
                  <a:srgbClr val="DDE6EF"/>
                </a:solidFill>
              </a:rPr>
              <a:t>Return to board with recommended partnership structure and go / no-go decision.</a:t>
            </a:r>
            <a:endParaRPr lang="en-US" sz="890" dirty="0"/>
          </a:p>
        </p:txBody>
      </p:sp>
      <p:sp>
        <p:nvSpPr>
          <p:cNvPr id="42" name="Shape 40"/>
          <p:cNvSpPr/>
          <p:nvPr/>
        </p:nvSpPr>
        <p:spPr>
          <a:xfrm>
            <a:off x="6903720" y="3291840"/>
            <a:ext cx="4297680" cy="1600200"/>
          </a:xfrm>
          <a:prstGeom prst="rect">
            <a:avLst/>
          </a:prstGeom>
          <a:solidFill>
            <a:srgbClr val="172535"/>
          </a:solidFill>
          <a:ln w="11430">
            <a:solidFill>
              <a:srgbClr val="C6A15B">
                <a:alpha val="80000"/>
              </a:srgbClr>
            </a:solidFill>
            <a:prstDash val="solid"/>
          </a:ln>
        </p:spPr>
      </p:sp>
      <p:sp>
        <p:nvSpPr>
          <p:cNvPr id="43" name="Text 41"/>
          <p:cNvSpPr/>
          <p:nvPr/>
        </p:nvSpPr>
        <p:spPr>
          <a:xfrm>
            <a:off x="7187184" y="3566160"/>
            <a:ext cx="2011680" cy="164592"/>
          </a:xfrm>
          <a:prstGeom prst="rect">
            <a:avLst/>
          </a:prstGeom>
          <a:noFill/>
          <a:ln/>
        </p:spPr>
        <p:txBody>
          <a:bodyPr wrap="square" lIns="0" tIns="0" rIns="0" bIns="0" rtlCol="0" anchor="ctr"/>
          <a:lstStyle/>
          <a:p>
            <a:pPr indent="0" marL="0">
              <a:buNone/>
            </a:pPr>
            <a:r>
              <a:rPr lang="en-US" sz="1080" b="1" dirty="0">
                <a:solidFill>
                  <a:srgbClr val="F8FAFC"/>
                </a:solidFill>
              </a:rPr>
              <a:t>Board concerns pre-empted</a:t>
            </a:r>
            <a:endParaRPr lang="en-US" sz="1080" dirty="0"/>
          </a:p>
        </p:txBody>
      </p:sp>
      <p:sp>
        <p:nvSpPr>
          <p:cNvPr id="44" name="Text 42"/>
          <p:cNvSpPr/>
          <p:nvPr/>
        </p:nvSpPr>
        <p:spPr>
          <a:xfrm>
            <a:off x="7187184" y="3950208"/>
            <a:ext cx="3611880" cy="411480"/>
          </a:xfrm>
          <a:prstGeom prst="rect">
            <a:avLst/>
          </a:prstGeom>
          <a:noFill/>
          <a:ln/>
        </p:spPr>
        <p:txBody>
          <a:bodyPr wrap="square" lIns="0" tIns="0" rIns="0" bIns="0" rtlCol="0" anchor="ctr">
            <a:normAutofit/>
          </a:bodyPr>
          <a:lstStyle/>
          <a:p>
            <a:pPr indent="0" marL="0">
              <a:buNone/>
            </a:pPr>
            <a:r>
              <a:rPr lang="en-US" sz="920" dirty="0">
                <a:solidFill>
                  <a:srgbClr val="A9B6C7"/>
                </a:solidFill>
              </a:rPr>
              <a:t>Conflict disclosure | export controls | Matt's time | Europe-first supplier bias | no access overclaim</a:t>
            </a:r>
            <a:endParaRPr lang="en-US" sz="920" dirty="0"/>
          </a:p>
        </p:txBody>
      </p:sp>
      <p:sp>
        <p:nvSpPr>
          <p:cNvPr id="45" name="Text 43"/>
          <p:cNvSpPr/>
          <p:nvPr/>
        </p:nvSpPr>
        <p:spPr>
          <a:xfrm>
            <a:off x="804672" y="5559552"/>
            <a:ext cx="10195560" cy="320040"/>
          </a:xfrm>
          <a:prstGeom prst="rect">
            <a:avLst/>
          </a:prstGeom>
          <a:noFill/>
          <a:ln/>
        </p:spPr>
        <p:txBody>
          <a:bodyPr wrap="square" lIns="0" tIns="0" rIns="0" bIns="0" rtlCol="0" anchor="ctr">
            <a:normAutofit/>
          </a:bodyPr>
          <a:lstStyle/>
          <a:p>
            <a:pPr indent="0" marL="0">
              <a:buNone/>
            </a:pPr>
            <a:r>
              <a:rPr lang="en-US" sz="1470" b="1" i="1" dirty="0">
                <a:solidFill>
                  <a:srgbClr val="F8FAFC"/>
                </a:solidFill>
                <a:latin typeface="Aptos Display" pitchFamily="34" charset="0"/>
                <a:ea typeface="Aptos Display" pitchFamily="34" charset="-122"/>
                <a:cs typeface="Aptos Display" pitchFamily="34" charset="-120"/>
              </a:rPr>
              <a:t>This is not a bet on a relationship; it is a controlled test of whether that relationship can produce strategic international opportunity.</a:t>
            </a:r>
            <a:endParaRPr lang="en-US" sz="1470" dirty="0"/>
          </a:p>
        </p:txBody>
      </p:sp>
      <p:sp>
        <p:nvSpPr>
          <p:cNvPr id="46" name="Text 44"/>
          <p:cNvSpPr/>
          <p:nvPr/>
        </p:nvSpPr>
        <p:spPr>
          <a:xfrm>
            <a:off x="685800" y="6062472"/>
            <a:ext cx="5669280" cy="109728"/>
          </a:xfrm>
          <a:prstGeom prst="rect">
            <a:avLst/>
          </a:prstGeom>
          <a:noFill/>
          <a:ln/>
        </p:spPr>
        <p:txBody>
          <a:bodyPr wrap="square" lIns="0" tIns="0" rIns="0" bIns="0" rtlCol="0" anchor="ctr"/>
          <a:lstStyle/>
          <a:p>
            <a:pPr indent="0" marL="0">
              <a:buNone/>
            </a:pPr>
            <a:r>
              <a:rPr lang="en-US" sz="580" dirty="0">
                <a:solidFill>
                  <a:srgbClr val="A9B6C7"/>
                </a:solidFill>
              </a:rPr>
              <a:t>Board ask: approve limited exploratory scope; require written update before any next commitment.</a:t>
            </a:r>
            <a:endParaRPr lang="en-US" sz="5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Kari Odermann / Dunlevy Aerospace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Kari Odermann and Dunlevy Aerospace Strategic Pilot</dc:title>
  <dc:subject>Strategic partnership exploratory pilot</dc:subject>
  <dc:creator>OpenAI Codex</dc:creator>
  <cp:lastModifiedBy>OpenAI Codex</cp:lastModifiedBy>
  <cp:revision>1</cp:revision>
  <dcterms:created xsi:type="dcterms:W3CDTF">2026-05-25T07:51:42Z</dcterms:created>
  <dcterms:modified xsi:type="dcterms:W3CDTF">2026-05-25T07:51:42Z</dcterms:modified>
</cp:coreProperties>
</file>